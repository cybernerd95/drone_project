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30324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15759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1182745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F1614F-2881-45EC-8855-32A5FAFB7F92}"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740658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F1614F-2881-45EC-8855-32A5FAFB7F92}" type="datetimeFigureOut">
              <a:rPr lang="en-IN" smtClean="0"/>
              <a:t>01-07-2026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1347819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F1614F-2881-45EC-8855-32A5FAFB7F92}" type="datetimeFigureOut">
              <a:rPr lang="en-IN" smtClean="0"/>
              <a:t>01-07-2026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4185531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F1614F-2881-45EC-8855-32A5FAFB7F92}" type="datetimeFigureOut">
              <a:rPr lang="en-IN" smtClean="0"/>
              <a:t>01-07-2026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99331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F1614F-2881-45EC-8855-32A5FAFB7F92}"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132446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F1614F-2881-45EC-8855-32A5FAFB7F92}" type="datetimeFigureOut">
              <a:rPr lang="en-IN" smtClean="0"/>
              <a:t>01-07-2026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134289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2641605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83260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3045825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41195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2707497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1346036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F1614F-2881-45EC-8855-32A5FAFB7F92}" type="datetimeFigureOut">
              <a:rPr lang="en-IN" smtClean="0"/>
              <a:t>01-07-2026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81519-1095-4DB2-9B55-0B192112D4CD}" type="slidenum">
              <a:rPr lang="en-IN" smtClean="0"/>
              <a:t>‹#›</a:t>
            </a:fld>
            <a:endParaRPr lang="en-IN"/>
          </a:p>
        </p:txBody>
      </p:sp>
    </p:spTree>
    <p:extLst>
      <p:ext uri="{BB962C8B-B14F-4D97-AF65-F5344CB8AC3E}">
        <p14:creationId xmlns:p14="http://schemas.microsoft.com/office/powerpoint/2010/main" val="1708981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F1614F-2881-45EC-8855-32A5FAFB7F92}" type="datetimeFigureOut">
              <a:rPr lang="en-IN" smtClean="0"/>
              <a:t>01-07-2026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5681519-1095-4DB2-9B55-0B192112D4CD}" type="slidenum">
              <a:rPr lang="en-IN" smtClean="0"/>
              <a:t>‹#›</a:t>
            </a:fld>
            <a:endParaRPr lang="en-IN"/>
          </a:p>
        </p:txBody>
      </p:sp>
    </p:spTree>
    <p:extLst>
      <p:ext uri="{BB962C8B-B14F-4D97-AF65-F5344CB8AC3E}">
        <p14:creationId xmlns:p14="http://schemas.microsoft.com/office/powerpoint/2010/main" val="987838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8269-1556-96E0-CAB7-79435E395063}"/>
              </a:ext>
            </a:extLst>
          </p:cNvPr>
          <p:cNvSpPr>
            <a:spLocks noGrp="1"/>
          </p:cNvSpPr>
          <p:nvPr>
            <p:ph type="ctrTitle"/>
          </p:nvPr>
        </p:nvSpPr>
        <p:spPr/>
        <p:txBody>
          <a:bodyPr/>
          <a:lstStyle/>
          <a:p>
            <a:r>
              <a:rPr lang="en-IN" dirty="0"/>
              <a:t>Drone Detection </a:t>
            </a:r>
          </a:p>
        </p:txBody>
      </p:sp>
      <p:sp>
        <p:nvSpPr>
          <p:cNvPr id="3" name="Subtitle 2">
            <a:extLst>
              <a:ext uri="{FF2B5EF4-FFF2-40B4-BE49-F238E27FC236}">
                <a16:creationId xmlns:a16="http://schemas.microsoft.com/office/drawing/2014/main" id="{59D7B149-271C-860D-65CE-1E118836CD5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342176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E5970-7E3D-0FA3-14B9-64633D91CD36}"/>
              </a:ext>
            </a:extLst>
          </p:cNvPr>
          <p:cNvSpPr>
            <a:spLocks noGrp="1"/>
          </p:cNvSpPr>
          <p:nvPr>
            <p:ph type="title"/>
          </p:nvPr>
        </p:nvSpPr>
        <p:spPr/>
        <p:txBody>
          <a:bodyPr>
            <a:normAutofit fontScale="90000"/>
          </a:bodyPr>
          <a:lstStyle/>
          <a:p>
            <a:r>
              <a:rPr lang="en-IN" dirty="0"/>
              <a:t>Drone Detection using Radar</a:t>
            </a:r>
            <a:br>
              <a:rPr lang="en-IN" dirty="0"/>
            </a:br>
            <a:r>
              <a:rPr lang="en-IN" dirty="0"/>
              <a:t>Current Technology, Research Gaps and Future Scope</a:t>
            </a:r>
          </a:p>
        </p:txBody>
      </p:sp>
      <p:sp>
        <p:nvSpPr>
          <p:cNvPr id="3" name="Content Placeholder 2">
            <a:extLst>
              <a:ext uri="{FF2B5EF4-FFF2-40B4-BE49-F238E27FC236}">
                <a16:creationId xmlns:a16="http://schemas.microsoft.com/office/drawing/2014/main" id="{CD1316E3-9C52-EADD-88F2-780A9F135BE8}"/>
              </a:ext>
            </a:extLst>
          </p:cNvPr>
          <p:cNvSpPr>
            <a:spLocks noGrp="1"/>
          </p:cNvSpPr>
          <p:nvPr>
            <p:ph idx="1"/>
          </p:nvPr>
        </p:nvSpPr>
        <p:spPr/>
        <p:txBody>
          <a:bodyPr/>
          <a:lstStyle/>
          <a:p>
            <a:pPr marL="0" indent="0">
              <a:buNone/>
            </a:pPr>
            <a:r>
              <a:rPr lang="en-IN" dirty="0"/>
              <a:t>• Overview of current drone detection technologies</a:t>
            </a:r>
            <a:br>
              <a:rPr lang="en-IN" dirty="0"/>
            </a:br>
            <a:r>
              <a:rPr lang="en-IN" dirty="0"/>
              <a:t>• Limitations of existing radar systems</a:t>
            </a:r>
            <a:br>
              <a:rPr lang="en-IN" dirty="0"/>
            </a:br>
            <a:r>
              <a:rPr lang="en-IN" dirty="0"/>
              <a:t>• Emerging AI-based radar technologies</a:t>
            </a:r>
            <a:br>
              <a:rPr lang="en-IN" dirty="0"/>
            </a:br>
            <a:r>
              <a:rPr lang="en-IN" dirty="0"/>
              <a:t>• Literature review</a:t>
            </a:r>
            <a:br>
              <a:rPr lang="en-IN" dirty="0"/>
            </a:br>
            <a:r>
              <a:rPr lang="en-IN" dirty="0"/>
              <a:t>• Proposed research directions</a:t>
            </a:r>
          </a:p>
        </p:txBody>
      </p:sp>
    </p:spTree>
    <p:extLst>
      <p:ext uri="{BB962C8B-B14F-4D97-AF65-F5344CB8AC3E}">
        <p14:creationId xmlns:p14="http://schemas.microsoft.com/office/powerpoint/2010/main" val="3917705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FEEF4-C026-361E-20FE-5C61BF2F1F0F}"/>
              </a:ext>
            </a:extLst>
          </p:cNvPr>
          <p:cNvSpPr>
            <a:spLocks noGrp="1"/>
          </p:cNvSpPr>
          <p:nvPr>
            <p:ph type="title"/>
          </p:nvPr>
        </p:nvSpPr>
        <p:spPr/>
        <p:txBody>
          <a:bodyPr/>
          <a:lstStyle/>
          <a:p>
            <a:r>
              <a:rPr lang="en-IN" dirty="0"/>
              <a:t>Current Technology</a:t>
            </a:r>
            <a:br>
              <a:rPr lang="en-IN" dirty="0"/>
            </a:br>
            <a:endParaRPr lang="en-IN" dirty="0"/>
          </a:p>
        </p:txBody>
      </p:sp>
      <p:sp>
        <p:nvSpPr>
          <p:cNvPr id="3" name="Content Placeholder 2">
            <a:extLst>
              <a:ext uri="{FF2B5EF4-FFF2-40B4-BE49-F238E27FC236}">
                <a16:creationId xmlns:a16="http://schemas.microsoft.com/office/drawing/2014/main" id="{ACAD1132-11C1-BDF7-4C21-8CEEB1723C66}"/>
              </a:ext>
            </a:extLst>
          </p:cNvPr>
          <p:cNvSpPr>
            <a:spLocks noGrp="1"/>
          </p:cNvSpPr>
          <p:nvPr>
            <p:ph idx="1"/>
          </p:nvPr>
        </p:nvSpPr>
        <p:spPr/>
        <p:txBody>
          <a:bodyPr>
            <a:normAutofit lnSpcReduction="10000"/>
          </a:bodyPr>
          <a:lstStyle/>
          <a:p>
            <a:r>
              <a:rPr lang="en-IN" dirty="0"/>
              <a:t>Modern Counter-Unmanned Aerial Systems (C-UAS) do not rely on a single sensor.</a:t>
            </a:r>
            <a:br>
              <a:rPr lang="en-IN" dirty="0"/>
            </a:br>
            <a:r>
              <a:rPr lang="en-IN" dirty="0"/>
              <a:t>Instead, they combine multiple sensing technologies to improve detection and</a:t>
            </a:r>
            <a:br>
              <a:rPr lang="en-IN" dirty="0"/>
            </a:br>
            <a:r>
              <a:rPr lang="en-IN" dirty="0"/>
              <a:t>classification accuracy.</a:t>
            </a:r>
            <a:br>
              <a:rPr lang="en-IN" dirty="0"/>
            </a:br>
            <a:r>
              <a:rPr lang="en-IN" dirty="0"/>
              <a:t>Current technologies include:</a:t>
            </a:r>
            <a:br>
              <a:rPr lang="en-IN" dirty="0"/>
            </a:br>
            <a:br>
              <a:rPr lang="en-IN" dirty="0"/>
            </a:br>
            <a:r>
              <a:rPr lang="en-IN" dirty="0"/>
              <a:t>• FMCW Radar</a:t>
            </a:r>
            <a:br>
              <a:rPr lang="en-IN" dirty="0"/>
            </a:br>
            <a:r>
              <a:rPr lang="en-IN" dirty="0"/>
              <a:t>• Pulse Doppler Radar</a:t>
            </a:r>
            <a:br>
              <a:rPr lang="en-IN" dirty="0"/>
            </a:br>
            <a:r>
              <a:rPr lang="en-IN" dirty="0"/>
              <a:t>• AESA Radar</a:t>
            </a:r>
            <a:br>
              <a:rPr lang="en-IN" dirty="0"/>
            </a:br>
            <a:r>
              <a:rPr lang="en-IN" dirty="0"/>
              <a:t>• MIMO Radar</a:t>
            </a:r>
            <a:br>
              <a:rPr lang="en-IN" dirty="0"/>
            </a:br>
            <a:r>
              <a:rPr lang="en-IN" dirty="0"/>
              <a:t>• Passive Radar</a:t>
            </a:r>
            <a:br>
              <a:rPr lang="en-IN" dirty="0"/>
            </a:br>
            <a:r>
              <a:rPr lang="en-IN" dirty="0"/>
              <a:t>• RF Detection</a:t>
            </a:r>
            <a:br>
              <a:rPr lang="en-IN" dirty="0"/>
            </a:br>
            <a:r>
              <a:rPr lang="en-IN" dirty="0"/>
              <a:t>• EO/IR Cameras</a:t>
            </a:r>
            <a:br>
              <a:rPr lang="en-IN" dirty="0"/>
            </a:br>
            <a:r>
              <a:rPr lang="en-IN" dirty="0"/>
              <a:t>• Acoustic Sensors</a:t>
            </a:r>
            <a:br>
              <a:rPr lang="en-IN" dirty="0"/>
            </a:br>
            <a:r>
              <a:rPr lang="en-IN" dirty="0"/>
              <a:t>• AI-based Sensor Fusion</a:t>
            </a:r>
          </a:p>
        </p:txBody>
      </p:sp>
    </p:spTree>
    <p:extLst>
      <p:ext uri="{BB962C8B-B14F-4D97-AF65-F5344CB8AC3E}">
        <p14:creationId xmlns:p14="http://schemas.microsoft.com/office/powerpoint/2010/main" val="459940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5DAB5-1450-8EE5-8352-74901C14F439}"/>
              </a:ext>
            </a:extLst>
          </p:cNvPr>
          <p:cNvSpPr>
            <a:spLocks noGrp="1"/>
          </p:cNvSpPr>
          <p:nvPr>
            <p:ph type="title"/>
          </p:nvPr>
        </p:nvSpPr>
        <p:spPr/>
        <p:txBody>
          <a:bodyPr/>
          <a:lstStyle/>
          <a:p>
            <a:r>
              <a:rPr lang="en-IN" dirty="0"/>
              <a:t>Current Radar Technologies</a:t>
            </a:r>
          </a:p>
        </p:txBody>
      </p:sp>
      <p:sp>
        <p:nvSpPr>
          <p:cNvPr id="3" name="Content Placeholder 2">
            <a:extLst>
              <a:ext uri="{FF2B5EF4-FFF2-40B4-BE49-F238E27FC236}">
                <a16:creationId xmlns:a16="http://schemas.microsoft.com/office/drawing/2014/main" id="{7E24DED4-570F-2DB5-891B-FEDDA2E7DBED}"/>
              </a:ext>
            </a:extLst>
          </p:cNvPr>
          <p:cNvSpPr>
            <a:spLocks noGrp="1"/>
          </p:cNvSpPr>
          <p:nvPr>
            <p:ph idx="1"/>
          </p:nvPr>
        </p:nvSpPr>
        <p:spPr/>
        <p:txBody>
          <a:bodyPr/>
          <a:lstStyle/>
          <a:p>
            <a:r>
              <a:rPr lang="en-IN" dirty="0"/>
              <a:t>FMCW Radar</a:t>
            </a:r>
          </a:p>
          <a:p>
            <a:r>
              <a:rPr lang="en-IN" dirty="0"/>
              <a:t>AESA Radar</a:t>
            </a:r>
          </a:p>
          <a:p>
            <a:r>
              <a:rPr lang="en-IN" dirty="0"/>
              <a:t>MIMO Radar</a:t>
            </a:r>
          </a:p>
          <a:p>
            <a:r>
              <a:rPr lang="en-IN" dirty="0"/>
              <a:t>Passive Radar</a:t>
            </a:r>
          </a:p>
          <a:p>
            <a:r>
              <a:rPr lang="en-IN" dirty="0"/>
              <a:t>AI Sensor Fusion</a:t>
            </a:r>
          </a:p>
          <a:p>
            <a:endParaRPr lang="en-IN" dirty="0"/>
          </a:p>
        </p:txBody>
      </p:sp>
    </p:spTree>
    <p:extLst>
      <p:ext uri="{BB962C8B-B14F-4D97-AF65-F5344CB8AC3E}">
        <p14:creationId xmlns:p14="http://schemas.microsoft.com/office/powerpoint/2010/main" val="1769405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8550-4DC5-E80E-1350-B9A493B691A9}"/>
              </a:ext>
            </a:extLst>
          </p:cNvPr>
          <p:cNvSpPr>
            <a:spLocks noGrp="1"/>
          </p:cNvSpPr>
          <p:nvPr>
            <p:ph type="title"/>
          </p:nvPr>
        </p:nvSpPr>
        <p:spPr/>
        <p:txBody>
          <a:bodyPr/>
          <a:lstStyle/>
          <a:p>
            <a:r>
              <a:rPr lang="en-IN" dirty="0"/>
              <a:t>Current Loopholes</a:t>
            </a:r>
          </a:p>
        </p:txBody>
      </p:sp>
      <p:sp>
        <p:nvSpPr>
          <p:cNvPr id="3" name="Content Placeholder 2">
            <a:extLst>
              <a:ext uri="{FF2B5EF4-FFF2-40B4-BE49-F238E27FC236}">
                <a16:creationId xmlns:a16="http://schemas.microsoft.com/office/drawing/2014/main" id="{27D302B6-648D-3D0E-EEC2-0103A5081855}"/>
              </a:ext>
            </a:extLst>
          </p:cNvPr>
          <p:cNvSpPr>
            <a:spLocks noGrp="1"/>
          </p:cNvSpPr>
          <p:nvPr>
            <p:ph idx="1"/>
          </p:nvPr>
        </p:nvSpPr>
        <p:spPr/>
        <p:txBody>
          <a:bodyPr>
            <a:normAutofit/>
          </a:bodyPr>
          <a:lstStyle/>
          <a:p>
            <a:r>
              <a:rPr lang="en-IN" dirty="0"/>
              <a:t>Small Radar Cross Section (RCS)</a:t>
            </a:r>
            <a:br>
              <a:rPr lang="en-IN" dirty="0"/>
            </a:br>
            <a:br>
              <a:rPr lang="en-IN" dirty="0"/>
            </a:br>
            <a:r>
              <a:rPr lang="en-IN" dirty="0"/>
              <a:t>• Plastic and carbon-</a:t>
            </a:r>
            <a:r>
              <a:rPr lang="en-IN" dirty="0" err="1"/>
              <a:t>fiber</a:t>
            </a:r>
            <a:r>
              <a:rPr lang="en-IN" dirty="0"/>
              <a:t> drones reflect very little RF energy</a:t>
            </a:r>
            <a:br>
              <a:rPr lang="en-IN" dirty="0"/>
            </a:br>
            <a:r>
              <a:rPr lang="en-IN" dirty="0"/>
              <a:t>• Weak radar echoes</a:t>
            </a:r>
          </a:p>
          <a:p>
            <a:r>
              <a:rPr lang="en-IN" dirty="0"/>
              <a:t>Ground Clutter</a:t>
            </a:r>
            <a:br>
              <a:rPr lang="en-IN" dirty="0"/>
            </a:br>
            <a:endParaRPr lang="en-IN" dirty="0"/>
          </a:p>
          <a:p>
            <a:r>
              <a:rPr lang="en-IN" dirty="0"/>
              <a:t>Hovering Drones</a:t>
            </a:r>
          </a:p>
          <a:p>
            <a:r>
              <a:rPr lang="en-IN" dirty="0"/>
              <a:t>Bird vs Drone Classification</a:t>
            </a:r>
          </a:p>
          <a:p>
            <a:r>
              <a:rPr lang="en-IN" dirty="0"/>
              <a:t>Drone Swarms</a:t>
            </a:r>
          </a:p>
          <a:p>
            <a:r>
              <a:rPr lang="en-IN" dirty="0"/>
              <a:t>Autonomous UAVs</a:t>
            </a:r>
          </a:p>
          <a:p>
            <a:endParaRPr lang="en-IN" dirty="0"/>
          </a:p>
        </p:txBody>
      </p:sp>
    </p:spTree>
    <p:extLst>
      <p:ext uri="{BB962C8B-B14F-4D97-AF65-F5344CB8AC3E}">
        <p14:creationId xmlns:p14="http://schemas.microsoft.com/office/powerpoint/2010/main" val="3016681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0A2037-9035-3313-3F0D-1D5959FFF5FD}"/>
              </a:ext>
            </a:extLst>
          </p:cNvPr>
          <p:cNvSpPr>
            <a:spLocks noGrp="1"/>
          </p:cNvSpPr>
          <p:nvPr>
            <p:ph idx="1"/>
          </p:nvPr>
        </p:nvSpPr>
        <p:spPr>
          <a:xfrm>
            <a:off x="838200" y="414867"/>
            <a:ext cx="10515600" cy="5762096"/>
          </a:xfrm>
        </p:spPr>
        <p:txBody>
          <a:bodyPr>
            <a:normAutofit/>
          </a:bodyPr>
          <a:lstStyle/>
          <a:p>
            <a:r>
              <a:rPr lang="en-IN" dirty="0"/>
              <a:t>Electronic Warfare</a:t>
            </a:r>
            <a:br>
              <a:rPr lang="en-IN" dirty="0"/>
            </a:br>
            <a:br>
              <a:rPr lang="en-IN" dirty="0"/>
            </a:br>
            <a:r>
              <a:rPr lang="en-IN" dirty="0"/>
              <a:t>• Radar jamming</a:t>
            </a:r>
            <a:br>
              <a:rPr lang="en-IN" dirty="0"/>
            </a:br>
            <a:r>
              <a:rPr lang="en-IN" dirty="0"/>
              <a:t>• Spoofing</a:t>
            </a:r>
            <a:br>
              <a:rPr lang="en-IN" dirty="0"/>
            </a:br>
            <a:r>
              <a:rPr lang="en-IN" dirty="0"/>
              <a:t>• False target generation</a:t>
            </a:r>
          </a:p>
          <a:p>
            <a:r>
              <a:rPr lang="en-IN" dirty="0"/>
              <a:t>Weather Effects</a:t>
            </a:r>
            <a:br>
              <a:rPr lang="en-IN" dirty="0"/>
            </a:br>
            <a:r>
              <a:rPr lang="en-IN" dirty="0"/>
              <a:t>• Rain</a:t>
            </a:r>
            <a:br>
              <a:rPr lang="en-IN" dirty="0"/>
            </a:br>
            <a:r>
              <a:rPr lang="en-IN" dirty="0"/>
              <a:t>• Fog</a:t>
            </a:r>
            <a:br>
              <a:rPr lang="en-IN" dirty="0"/>
            </a:br>
            <a:r>
              <a:rPr lang="en-IN" dirty="0"/>
              <a:t>• Dust</a:t>
            </a:r>
            <a:br>
              <a:rPr lang="en-IN" dirty="0"/>
            </a:br>
            <a:r>
              <a:rPr lang="en-IN" dirty="0"/>
              <a:t>• Snow</a:t>
            </a:r>
          </a:p>
          <a:p>
            <a:r>
              <a:rPr lang="en-IN" dirty="0"/>
              <a:t>Computational Cost</a:t>
            </a:r>
            <a:br>
              <a:rPr lang="en-IN" dirty="0"/>
            </a:br>
            <a:br>
              <a:rPr lang="en-IN" dirty="0"/>
            </a:br>
            <a:r>
              <a:rPr lang="en-IN" dirty="0"/>
              <a:t>• Real-time AI</a:t>
            </a:r>
            <a:br>
              <a:rPr lang="en-IN" dirty="0"/>
            </a:br>
            <a:r>
              <a:rPr lang="en-IN" dirty="0"/>
              <a:t>• FFT</a:t>
            </a:r>
            <a:br>
              <a:rPr lang="en-IN" dirty="0"/>
            </a:br>
            <a:r>
              <a:rPr lang="en-IN" dirty="0"/>
              <a:t>• Beamforming</a:t>
            </a:r>
            <a:br>
              <a:rPr lang="en-IN" dirty="0"/>
            </a:br>
            <a:r>
              <a:rPr lang="en-IN" dirty="0"/>
              <a:t>• Sensor Fusion</a:t>
            </a:r>
            <a:br>
              <a:rPr lang="en-IN" dirty="0"/>
            </a:br>
            <a:r>
              <a:rPr lang="en-IN" dirty="0"/>
              <a:t>• High FPGA/GPU requirements</a:t>
            </a:r>
            <a:br>
              <a:rPr lang="en-IN" dirty="0"/>
            </a:br>
            <a:br>
              <a:rPr lang="en-IN" dirty="0"/>
            </a:br>
            <a:endParaRPr lang="en-IN" dirty="0"/>
          </a:p>
        </p:txBody>
      </p:sp>
    </p:spTree>
    <p:extLst>
      <p:ext uri="{BB962C8B-B14F-4D97-AF65-F5344CB8AC3E}">
        <p14:creationId xmlns:p14="http://schemas.microsoft.com/office/powerpoint/2010/main" val="1358149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AD95-212C-6E0F-3CBA-E132E417A1F6}"/>
              </a:ext>
            </a:extLst>
          </p:cNvPr>
          <p:cNvSpPr>
            <a:spLocks noGrp="1"/>
          </p:cNvSpPr>
          <p:nvPr>
            <p:ph type="title"/>
          </p:nvPr>
        </p:nvSpPr>
        <p:spPr/>
        <p:txBody>
          <a:bodyPr/>
          <a:lstStyle/>
          <a:p>
            <a:r>
              <a:rPr lang="en-IN" dirty="0"/>
              <a:t>Research Scope for Improvement</a:t>
            </a:r>
          </a:p>
        </p:txBody>
      </p:sp>
      <p:sp>
        <p:nvSpPr>
          <p:cNvPr id="3" name="Content Placeholder 2">
            <a:extLst>
              <a:ext uri="{FF2B5EF4-FFF2-40B4-BE49-F238E27FC236}">
                <a16:creationId xmlns:a16="http://schemas.microsoft.com/office/drawing/2014/main" id="{70F1BA8B-C9CF-C751-A2DB-B75700901015}"/>
              </a:ext>
            </a:extLst>
          </p:cNvPr>
          <p:cNvSpPr>
            <a:spLocks noGrp="1"/>
          </p:cNvSpPr>
          <p:nvPr>
            <p:ph idx="1"/>
          </p:nvPr>
        </p:nvSpPr>
        <p:spPr/>
        <p:txBody>
          <a:bodyPr>
            <a:normAutofit/>
          </a:bodyPr>
          <a:lstStyle/>
          <a:p>
            <a:r>
              <a:rPr lang="en-IN" dirty="0"/>
              <a:t>Current radar answers</a:t>
            </a:r>
            <a:br>
              <a:rPr lang="en-IN" dirty="0"/>
            </a:br>
            <a:br>
              <a:rPr lang="en-IN" dirty="0"/>
            </a:br>
            <a:r>
              <a:rPr lang="en-IN" dirty="0"/>
              <a:t>"What is flying?"</a:t>
            </a:r>
            <a:br>
              <a:rPr lang="en-IN" dirty="0"/>
            </a:br>
            <a:br>
              <a:rPr lang="en-IN" dirty="0"/>
            </a:br>
            <a:r>
              <a:rPr lang="en-IN" dirty="0"/>
              <a:t>Future radar should answer</a:t>
            </a:r>
            <a:br>
              <a:rPr lang="en-IN" dirty="0"/>
            </a:br>
            <a:br>
              <a:rPr lang="en-IN" dirty="0"/>
            </a:br>
            <a:r>
              <a:rPr lang="en-IN" dirty="0"/>
              <a:t>• What type of drone?</a:t>
            </a:r>
            <a:br>
              <a:rPr lang="en-IN" dirty="0"/>
            </a:br>
            <a:r>
              <a:rPr lang="en-IN" dirty="0"/>
              <a:t>• Which drone is the leader?</a:t>
            </a:r>
            <a:br>
              <a:rPr lang="en-IN" dirty="0"/>
            </a:br>
            <a:r>
              <a:rPr lang="en-IN" dirty="0"/>
              <a:t>• What is the swarm mission?</a:t>
            </a:r>
            <a:br>
              <a:rPr lang="en-IN" dirty="0"/>
            </a:br>
            <a:r>
              <a:rPr lang="en-IN" dirty="0"/>
              <a:t>• Where will the swarm attack?</a:t>
            </a:r>
            <a:br>
              <a:rPr lang="en-IN" dirty="0"/>
            </a:br>
            <a:r>
              <a:rPr lang="en-IN" dirty="0"/>
              <a:t>• Which waveform should the radar transmit?</a:t>
            </a:r>
            <a:br>
              <a:rPr lang="en-IN" dirty="0"/>
            </a:br>
            <a:r>
              <a:rPr lang="en-IN" dirty="0"/>
              <a:t>• How can radar adapt automatically?</a:t>
            </a:r>
            <a:br>
              <a:rPr lang="en-IN" dirty="0"/>
            </a:br>
            <a:endParaRPr lang="en-IN" dirty="0"/>
          </a:p>
        </p:txBody>
      </p:sp>
    </p:spTree>
    <p:extLst>
      <p:ext uri="{BB962C8B-B14F-4D97-AF65-F5344CB8AC3E}">
        <p14:creationId xmlns:p14="http://schemas.microsoft.com/office/powerpoint/2010/main" val="119104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DC63-1F30-03EB-7E27-79997614E920}"/>
              </a:ext>
            </a:extLst>
          </p:cNvPr>
          <p:cNvSpPr>
            <a:spLocks noGrp="1"/>
          </p:cNvSpPr>
          <p:nvPr>
            <p:ph type="title"/>
          </p:nvPr>
        </p:nvSpPr>
        <p:spPr/>
        <p:txBody>
          <a:bodyPr/>
          <a:lstStyle/>
          <a:p>
            <a:r>
              <a:rPr lang="en-IN" dirty="0"/>
              <a:t>Three promising research directions</a:t>
            </a:r>
          </a:p>
        </p:txBody>
      </p:sp>
      <p:sp>
        <p:nvSpPr>
          <p:cNvPr id="3" name="Content Placeholder 2">
            <a:extLst>
              <a:ext uri="{FF2B5EF4-FFF2-40B4-BE49-F238E27FC236}">
                <a16:creationId xmlns:a16="http://schemas.microsoft.com/office/drawing/2014/main" id="{872D71BB-88DB-10BF-AD05-1B372390DC97}"/>
              </a:ext>
            </a:extLst>
          </p:cNvPr>
          <p:cNvSpPr>
            <a:spLocks noGrp="1"/>
          </p:cNvSpPr>
          <p:nvPr>
            <p:ph idx="1"/>
          </p:nvPr>
        </p:nvSpPr>
        <p:spPr/>
        <p:txBody>
          <a:bodyPr/>
          <a:lstStyle/>
          <a:p>
            <a:pPr marL="0" indent="0">
              <a:buNone/>
            </a:pPr>
            <a:r>
              <a:rPr lang="en-IN" dirty="0"/>
              <a:t>1. AI Micro-Doppler Radar</a:t>
            </a:r>
            <a:br>
              <a:rPr lang="en-IN" dirty="0"/>
            </a:br>
            <a:br>
              <a:rPr lang="en-IN" dirty="0"/>
            </a:br>
            <a:r>
              <a:rPr lang="en-IN" dirty="0"/>
              <a:t>2. Drone Swarm Radar</a:t>
            </a:r>
            <a:br>
              <a:rPr lang="en-IN" dirty="0"/>
            </a:br>
            <a:br>
              <a:rPr lang="en-IN" dirty="0"/>
            </a:br>
            <a:r>
              <a:rPr lang="en-IN" dirty="0"/>
              <a:t>3. Cognitive Radar</a:t>
            </a:r>
          </a:p>
        </p:txBody>
      </p:sp>
    </p:spTree>
    <p:extLst>
      <p:ext uri="{BB962C8B-B14F-4D97-AF65-F5344CB8AC3E}">
        <p14:creationId xmlns:p14="http://schemas.microsoft.com/office/powerpoint/2010/main" val="2721187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68E-3B2F-2DF2-6719-0E966F450B3E}"/>
              </a:ext>
            </a:extLst>
          </p:cNvPr>
          <p:cNvSpPr>
            <a:spLocks noGrp="1"/>
          </p:cNvSpPr>
          <p:nvPr>
            <p:ph type="title"/>
          </p:nvPr>
        </p:nvSpPr>
        <p:spPr/>
        <p:txBody>
          <a:bodyPr/>
          <a:lstStyle/>
          <a:p>
            <a:r>
              <a:rPr lang="en-IN" dirty="0"/>
              <a:t>AI Micro-Doppler Radar</a:t>
            </a:r>
          </a:p>
        </p:txBody>
      </p:sp>
      <p:sp>
        <p:nvSpPr>
          <p:cNvPr id="3" name="Content Placeholder 2">
            <a:extLst>
              <a:ext uri="{FF2B5EF4-FFF2-40B4-BE49-F238E27FC236}">
                <a16:creationId xmlns:a16="http://schemas.microsoft.com/office/drawing/2014/main" id="{2C11D1D5-8765-590C-76CB-685D01E84F94}"/>
              </a:ext>
            </a:extLst>
          </p:cNvPr>
          <p:cNvSpPr>
            <a:spLocks noGrp="1"/>
          </p:cNvSpPr>
          <p:nvPr>
            <p:ph idx="1"/>
          </p:nvPr>
        </p:nvSpPr>
        <p:spPr/>
        <p:txBody>
          <a:bodyPr>
            <a:normAutofit fontScale="92500" lnSpcReduction="20000"/>
          </a:bodyPr>
          <a:lstStyle/>
          <a:p>
            <a:r>
              <a:rPr lang="en-IN" dirty="0"/>
              <a:t>Concept</a:t>
            </a:r>
            <a:br>
              <a:rPr lang="en-IN" dirty="0"/>
            </a:br>
            <a:br>
              <a:rPr lang="en-IN" dirty="0"/>
            </a:br>
            <a:r>
              <a:rPr lang="en-IN" dirty="0"/>
              <a:t>Every rotating propeller produces a unique Micro-Doppler signature.</a:t>
            </a:r>
            <a:br>
              <a:rPr lang="en-IN" dirty="0"/>
            </a:br>
            <a:br>
              <a:rPr lang="en-IN" dirty="0"/>
            </a:br>
            <a:r>
              <a:rPr lang="en-IN" dirty="0"/>
              <a:t>Radar processing pipeline</a:t>
            </a:r>
          </a:p>
          <a:p>
            <a:br>
              <a:rPr lang="en-IN" dirty="0"/>
            </a:br>
            <a:r>
              <a:rPr lang="en-IN" dirty="0"/>
              <a:t>Radar Echo</a:t>
            </a:r>
            <a:br>
              <a:rPr lang="en-IN" dirty="0"/>
            </a:br>
            <a:r>
              <a:rPr lang="en-IN" dirty="0"/>
              <a:t>↓</a:t>
            </a:r>
            <a:br>
              <a:rPr lang="en-IN" dirty="0"/>
            </a:br>
            <a:r>
              <a:rPr lang="en-IN" dirty="0"/>
              <a:t>Range FFT</a:t>
            </a:r>
            <a:br>
              <a:rPr lang="en-IN" dirty="0"/>
            </a:br>
            <a:r>
              <a:rPr lang="en-IN" dirty="0"/>
              <a:t>↓</a:t>
            </a:r>
            <a:br>
              <a:rPr lang="en-IN" dirty="0"/>
            </a:br>
            <a:r>
              <a:rPr lang="en-IN" dirty="0"/>
              <a:t>Doppler FFT</a:t>
            </a:r>
            <a:br>
              <a:rPr lang="en-IN" dirty="0"/>
            </a:br>
            <a:r>
              <a:rPr lang="en-IN" dirty="0"/>
              <a:t>↓</a:t>
            </a:r>
            <a:br>
              <a:rPr lang="en-IN" dirty="0"/>
            </a:br>
            <a:r>
              <a:rPr lang="en-IN" dirty="0"/>
              <a:t>Time-Frequency Spectrogram</a:t>
            </a:r>
            <a:br>
              <a:rPr lang="en-IN" dirty="0"/>
            </a:br>
            <a:r>
              <a:rPr lang="en-IN" dirty="0"/>
              <a:t>↓</a:t>
            </a:r>
            <a:br>
              <a:rPr lang="en-IN" dirty="0"/>
            </a:br>
            <a:r>
              <a:rPr lang="en-IN" dirty="0"/>
              <a:t>AI Model (CNN / Transformer)</a:t>
            </a:r>
            <a:br>
              <a:rPr lang="en-IN" dirty="0"/>
            </a:br>
            <a:r>
              <a:rPr lang="en-IN" dirty="0"/>
              <a:t>↓</a:t>
            </a:r>
            <a:br>
              <a:rPr lang="en-IN" dirty="0"/>
            </a:br>
            <a:r>
              <a:rPr lang="en-IN" dirty="0"/>
              <a:t>Drone Classification</a:t>
            </a:r>
          </a:p>
        </p:txBody>
      </p:sp>
    </p:spTree>
    <p:extLst>
      <p:ext uri="{BB962C8B-B14F-4D97-AF65-F5344CB8AC3E}">
        <p14:creationId xmlns:p14="http://schemas.microsoft.com/office/powerpoint/2010/main" val="374685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0EF5-FDE3-C16F-F7C0-94F11F5E954A}"/>
              </a:ext>
            </a:extLst>
          </p:cNvPr>
          <p:cNvSpPr>
            <a:spLocks noGrp="1"/>
          </p:cNvSpPr>
          <p:nvPr>
            <p:ph type="title"/>
          </p:nvPr>
        </p:nvSpPr>
        <p:spPr/>
        <p:txBody>
          <a:bodyPr/>
          <a:lstStyle/>
          <a:p>
            <a:r>
              <a:rPr lang="en-IN" dirty="0"/>
              <a:t>Capabilities</a:t>
            </a:r>
            <a:br>
              <a:rPr lang="en-IN" dirty="0"/>
            </a:br>
            <a:endParaRPr lang="en-IN" dirty="0"/>
          </a:p>
        </p:txBody>
      </p:sp>
      <p:sp>
        <p:nvSpPr>
          <p:cNvPr id="3" name="Content Placeholder 2">
            <a:extLst>
              <a:ext uri="{FF2B5EF4-FFF2-40B4-BE49-F238E27FC236}">
                <a16:creationId xmlns:a16="http://schemas.microsoft.com/office/drawing/2014/main" id="{B1B140B2-C1F8-765B-838F-D61E7AE40E56}"/>
              </a:ext>
            </a:extLst>
          </p:cNvPr>
          <p:cNvSpPr>
            <a:spLocks noGrp="1"/>
          </p:cNvSpPr>
          <p:nvPr>
            <p:ph idx="1"/>
          </p:nvPr>
        </p:nvSpPr>
        <p:spPr/>
        <p:txBody>
          <a:bodyPr/>
          <a:lstStyle/>
          <a:p>
            <a:r>
              <a:rPr lang="en-IN" dirty="0"/>
              <a:t>• Identify drone model</a:t>
            </a:r>
            <a:br>
              <a:rPr lang="en-IN" dirty="0"/>
            </a:br>
            <a:r>
              <a:rPr lang="en-IN" dirty="0"/>
              <a:t>• Rotor type</a:t>
            </a:r>
            <a:br>
              <a:rPr lang="en-IN" dirty="0"/>
            </a:br>
            <a:r>
              <a:rPr lang="en-IN" dirty="0"/>
              <a:t>• Rotor RPM</a:t>
            </a:r>
            <a:br>
              <a:rPr lang="en-IN" dirty="0"/>
            </a:br>
            <a:r>
              <a:rPr lang="en-IN" dirty="0"/>
              <a:t>• Payload</a:t>
            </a:r>
            <a:br>
              <a:rPr lang="en-IN" dirty="0"/>
            </a:br>
            <a:r>
              <a:rPr lang="en-IN" dirty="0"/>
              <a:t>• Flight mode</a:t>
            </a:r>
            <a:br>
              <a:rPr lang="en-IN" dirty="0"/>
            </a:br>
            <a:r>
              <a:rPr lang="en-IN" dirty="0"/>
              <a:t>• Damage detection</a:t>
            </a:r>
            <a:br>
              <a:rPr lang="en-IN" dirty="0"/>
            </a:br>
            <a:endParaRPr lang="en-IN" dirty="0"/>
          </a:p>
        </p:txBody>
      </p:sp>
    </p:spTree>
    <p:extLst>
      <p:ext uri="{BB962C8B-B14F-4D97-AF65-F5344CB8AC3E}">
        <p14:creationId xmlns:p14="http://schemas.microsoft.com/office/powerpoint/2010/main" val="275668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C269-DC69-1A98-BBB7-87B9D1E6DD30}"/>
              </a:ext>
            </a:extLst>
          </p:cNvPr>
          <p:cNvSpPr>
            <a:spLocks noGrp="1"/>
          </p:cNvSpPr>
          <p:nvPr>
            <p:ph type="title"/>
          </p:nvPr>
        </p:nvSpPr>
        <p:spPr/>
        <p:txBody>
          <a:bodyPr/>
          <a:lstStyle/>
          <a:p>
            <a:r>
              <a:rPr lang="en-IN" dirty="0"/>
              <a:t>Advantages &amp; Current Challenges</a:t>
            </a:r>
          </a:p>
        </p:txBody>
      </p:sp>
      <p:sp>
        <p:nvSpPr>
          <p:cNvPr id="3" name="Content Placeholder 2">
            <a:extLst>
              <a:ext uri="{FF2B5EF4-FFF2-40B4-BE49-F238E27FC236}">
                <a16:creationId xmlns:a16="http://schemas.microsoft.com/office/drawing/2014/main" id="{0984C39E-3233-21AD-02AF-9ECC088203D2}"/>
              </a:ext>
            </a:extLst>
          </p:cNvPr>
          <p:cNvSpPr>
            <a:spLocks noGrp="1"/>
          </p:cNvSpPr>
          <p:nvPr>
            <p:ph idx="1"/>
          </p:nvPr>
        </p:nvSpPr>
        <p:spPr/>
        <p:txBody>
          <a:bodyPr/>
          <a:lstStyle/>
          <a:p>
            <a:r>
              <a:rPr lang="en-IN" dirty="0"/>
              <a:t>• Better than simple radar detection</a:t>
            </a:r>
            <a:br>
              <a:rPr lang="en-IN" dirty="0"/>
            </a:br>
            <a:r>
              <a:rPr lang="en-IN" dirty="0"/>
              <a:t>• Significantly reduces bird-drone confusion</a:t>
            </a:r>
            <a:br>
              <a:rPr lang="en-IN" dirty="0"/>
            </a:br>
            <a:r>
              <a:rPr lang="en-IN" dirty="0"/>
              <a:t>• Enables intelligent drone classification</a:t>
            </a:r>
          </a:p>
          <a:p>
            <a:endParaRPr lang="en-IN" dirty="0"/>
          </a:p>
          <a:p>
            <a:r>
              <a:rPr lang="en-IN" dirty="0"/>
              <a:t>• Limited UAV datasets</a:t>
            </a:r>
            <a:br>
              <a:rPr lang="en-IN" dirty="0"/>
            </a:br>
            <a:r>
              <a:rPr lang="en-IN" dirty="0"/>
              <a:t>• Signature changes with orientation</a:t>
            </a:r>
            <a:br>
              <a:rPr lang="en-IN" dirty="0"/>
            </a:br>
            <a:r>
              <a:rPr lang="en-IN" dirty="0"/>
              <a:t>• Weather effects</a:t>
            </a:r>
            <a:br>
              <a:rPr lang="en-IN" dirty="0"/>
            </a:br>
            <a:r>
              <a:rPr lang="en-IN" dirty="0"/>
              <a:t>• Overlapping signatures in drone swarms</a:t>
            </a:r>
          </a:p>
          <a:p>
            <a:endParaRPr lang="en-IN" dirty="0"/>
          </a:p>
        </p:txBody>
      </p:sp>
    </p:spTree>
    <p:extLst>
      <p:ext uri="{BB962C8B-B14F-4D97-AF65-F5344CB8AC3E}">
        <p14:creationId xmlns:p14="http://schemas.microsoft.com/office/powerpoint/2010/main" val="419361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D3DA-59BE-4540-9C04-4A733F60D3B1}"/>
              </a:ext>
            </a:extLst>
          </p:cNvPr>
          <p:cNvSpPr>
            <a:spLocks noGrp="1"/>
          </p:cNvSpPr>
          <p:nvPr>
            <p:ph type="title"/>
          </p:nvPr>
        </p:nvSpPr>
        <p:spPr/>
        <p:txBody>
          <a:bodyPr/>
          <a:lstStyle/>
          <a:p>
            <a:r>
              <a:rPr lang="en-IN" dirty="0"/>
              <a:t>Future Improvements</a:t>
            </a:r>
          </a:p>
        </p:txBody>
      </p:sp>
      <p:sp>
        <p:nvSpPr>
          <p:cNvPr id="3" name="Content Placeholder 2">
            <a:extLst>
              <a:ext uri="{FF2B5EF4-FFF2-40B4-BE49-F238E27FC236}">
                <a16:creationId xmlns:a16="http://schemas.microsoft.com/office/drawing/2014/main" id="{08780BD0-7721-49DE-387D-431BCED43ED8}"/>
              </a:ext>
            </a:extLst>
          </p:cNvPr>
          <p:cNvSpPr>
            <a:spLocks noGrp="1"/>
          </p:cNvSpPr>
          <p:nvPr>
            <p:ph idx="1"/>
          </p:nvPr>
        </p:nvSpPr>
        <p:spPr/>
        <p:txBody>
          <a:bodyPr/>
          <a:lstStyle/>
          <a:p>
            <a:pPr marL="0" indent="0">
              <a:buNone/>
            </a:pPr>
            <a:r>
              <a:rPr lang="en-IN" dirty="0"/>
              <a:t>• Self-supervised learning</a:t>
            </a:r>
            <a:br>
              <a:rPr lang="en-IN" dirty="0"/>
            </a:br>
            <a:r>
              <a:rPr lang="en-IN" dirty="0"/>
              <a:t>• Digital Twin datasets</a:t>
            </a:r>
            <a:br>
              <a:rPr lang="en-IN" dirty="0"/>
            </a:br>
            <a:r>
              <a:rPr lang="en-IN" dirty="0"/>
              <a:t>• Synthetic radar data generation</a:t>
            </a:r>
            <a:br>
              <a:rPr lang="en-IN" dirty="0"/>
            </a:br>
            <a:r>
              <a:rPr lang="en-IN" dirty="0"/>
              <a:t>• Foundation models for radar intelligence</a:t>
            </a:r>
          </a:p>
        </p:txBody>
      </p:sp>
    </p:spTree>
    <p:extLst>
      <p:ext uri="{BB962C8B-B14F-4D97-AF65-F5344CB8AC3E}">
        <p14:creationId xmlns:p14="http://schemas.microsoft.com/office/powerpoint/2010/main" val="4285901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AC07-14D4-DBA1-F22A-006372760BDC}"/>
              </a:ext>
            </a:extLst>
          </p:cNvPr>
          <p:cNvSpPr>
            <a:spLocks noGrp="1"/>
          </p:cNvSpPr>
          <p:nvPr>
            <p:ph type="title"/>
          </p:nvPr>
        </p:nvSpPr>
        <p:spPr/>
        <p:txBody>
          <a:bodyPr/>
          <a:lstStyle/>
          <a:p>
            <a:r>
              <a:rPr lang="en-IN" dirty="0"/>
              <a:t>Drone Swarm Radar</a:t>
            </a:r>
          </a:p>
        </p:txBody>
      </p:sp>
      <p:sp>
        <p:nvSpPr>
          <p:cNvPr id="3" name="Content Placeholder 2">
            <a:extLst>
              <a:ext uri="{FF2B5EF4-FFF2-40B4-BE49-F238E27FC236}">
                <a16:creationId xmlns:a16="http://schemas.microsoft.com/office/drawing/2014/main" id="{27AAD171-E5C1-EC5F-440C-D747DB6777A1}"/>
              </a:ext>
            </a:extLst>
          </p:cNvPr>
          <p:cNvSpPr>
            <a:spLocks noGrp="1"/>
          </p:cNvSpPr>
          <p:nvPr>
            <p:ph idx="1"/>
          </p:nvPr>
        </p:nvSpPr>
        <p:spPr>
          <a:xfrm>
            <a:off x="838200" y="1464733"/>
            <a:ext cx="10515600" cy="4712230"/>
          </a:xfrm>
        </p:spPr>
        <p:txBody>
          <a:bodyPr>
            <a:normAutofit/>
          </a:bodyPr>
          <a:lstStyle/>
          <a:p>
            <a:r>
              <a:rPr lang="en-IN" dirty="0"/>
              <a:t>Current Radar</a:t>
            </a:r>
            <a:br>
              <a:rPr lang="en-IN" dirty="0"/>
            </a:br>
            <a:br>
              <a:rPr lang="en-IN" dirty="0"/>
            </a:br>
            <a:r>
              <a:rPr lang="en-IN" dirty="0"/>
              <a:t>• Detects multiple drones independently</a:t>
            </a:r>
            <a:br>
              <a:rPr lang="en-IN" dirty="0"/>
            </a:br>
            <a:r>
              <a:rPr lang="en-IN" dirty="0"/>
              <a:t>• Tracks individual trajectories</a:t>
            </a:r>
          </a:p>
          <a:p>
            <a:r>
              <a:rPr lang="en-IN" dirty="0"/>
              <a:t>Future Intelligent Radar Should answer</a:t>
            </a:r>
            <a:br>
              <a:rPr lang="en-IN" dirty="0"/>
            </a:br>
            <a:br>
              <a:rPr lang="en-IN" dirty="0"/>
            </a:br>
            <a:r>
              <a:rPr lang="en-IN" dirty="0"/>
              <a:t>• Are the drones coordinated?</a:t>
            </a:r>
            <a:br>
              <a:rPr lang="en-IN" dirty="0"/>
            </a:br>
            <a:r>
              <a:rPr lang="en-IN" dirty="0"/>
              <a:t>• Who is the swarm leader?</a:t>
            </a:r>
            <a:br>
              <a:rPr lang="en-IN" dirty="0"/>
            </a:br>
            <a:r>
              <a:rPr lang="en-IN" dirty="0"/>
              <a:t>• What is the attack objective?</a:t>
            </a:r>
            <a:br>
              <a:rPr lang="en-IN" dirty="0"/>
            </a:br>
            <a:r>
              <a:rPr lang="en-IN" dirty="0"/>
              <a:t>• Will the swarm split?</a:t>
            </a:r>
            <a:br>
              <a:rPr lang="en-IN" dirty="0"/>
            </a:br>
            <a:r>
              <a:rPr lang="en-IN" dirty="0"/>
              <a:t>• Estimated impact point?</a:t>
            </a:r>
            <a:br>
              <a:rPr lang="en-IN" dirty="0"/>
            </a:br>
            <a:r>
              <a:rPr lang="en-IN" dirty="0"/>
              <a:t>• Time-to-impact?</a:t>
            </a:r>
          </a:p>
        </p:txBody>
      </p:sp>
    </p:spTree>
    <p:extLst>
      <p:ext uri="{BB962C8B-B14F-4D97-AF65-F5344CB8AC3E}">
        <p14:creationId xmlns:p14="http://schemas.microsoft.com/office/powerpoint/2010/main" val="906608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3856D-0CC0-98A5-DC38-D1527640F18D}"/>
              </a:ext>
            </a:extLst>
          </p:cNvPr>
          <p:cNvSpPr>
            <a:spLocks noGrp="1"/>
          </p:cNvSpPr>
          <p:nvPr>
            <p:ph type="title"/>
          </p:nvPr>
        </p:nvSpPr>
        <p:spPr/>
        <p:txBody>
          <a:bodyPr/>
          <a:lstStyle/>
          <a:p>
            <a:r>
              <a:rPr lang="en-IN" dirty="0"/>
              <a:t>Technologies</a:t>
            </a:r>
          </a:p>
        </p:txBody>
      </p:sp>
      <p:sp>
        <p:nvSpPr>
          <p:cNvPr id="3" name="Content Placeholder 2">
            <a:extLst>
              <a:ext uri="{FF2B5EF4-FFF2-40B4-BE49-F238E27FC236}">
                <a16:creationId xmlns:a16="http://schemas.microsoft.com/office/drawing/2014/main" id="{0D87CB49-509A-E02D-A686-5F988F60763E}"/>
              </a:ext>
            </a:extLst>
          </p:cNvPr>
          <p:cNvSpPr>
            <a:spLocks noGrp="1"/>
          </p:cNvSpPr>
          <p:nvPr>
            <p:ph idx="1"/>
          </p:nvPr>
        </p:nvSpPr>
        <p:spPr/>
        <p:txBody>
          <a:bodyPr/>
          <a:lstStyle/>
          <a:p>
            <a:r>
              <a:rPr lang="en-IN" dirty="0"/>
              <a:t>Graph Neural Networks</a:t>
            </a:r>
            <a:br>
              <a:rPr lang="en-IN" dirty="0"/>
            </a:br>
            <a:r>
              <a:rPr lang="en-IN" dirty="0"/>
              <a:t>• Swarm Intelligence</a:t>
            </a:r>
            <a:br>
              <a:rPr lang="en-IN" dirty="0"/>
            </a:br>
            <a:r>
              <a:rPr lang="en-IN" dirty="0"/>
              <a:t>• Multi-target Tracking</a:t>
            </a:r>
            <a:br>
              <a:rPr lang="en-IN" dirty="0"/>
            </a:br>
            <a:r>
              <a:rPr lang="en-IN" dirty="0"/>
              <a:t>• Trajectory Prediction</a:t>
            </a:r>
            <a:br>
              <a:rPr lang="en-IN" dirty="0"/>
            </a:br>
            <a:r>
              <a:rPr lang="en-IN" dirty="0"/>
              <a:t>• Reinforcement Learning</a:t>
            </a:r>
          </a:p>
        </p:txBody>
      </p:sp>
    </p:spTree>
    <p:extLst>
      <p:ext uri="{BB962C8B-B14F-4D97-AF65-F5344CB8AC3E}">
        <p14:creationId xmlns:p14="http://schemas.microsoft.com/office/powerpoint/2010/main" val="2380583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AA481-188E-7BA7-8ED7-41D62D8DE324}"/>
              </a:ext>
            </a:extLst>
          </p:cNvPr>
          <p:cNvSpPr>
            <a:spLocks noGrp="1"/>
          </p:cNvSpPr>
          <p:nvPr>
            <p:ph type="title"/>
          </p:nvPr>
        </p:nvSpPr>
        <p:spPr/>
        <p:txBody>
          <a:bodyPr/>
          <a:lstStyle/>
          <a:p>
            <a:r>
              <a:rPr lang="en-IN" dirty="0"/>
              <a:t>Current Challenges &amp; Future Scope</a:t>
            </a:r>
            <a:br>
              <a:rPr lang="en-IN" dirty="0"/>
            </a:br>
            <a:endParaRPr lang="en-IN" dirty="0"/>
          </a:p>
        </p:txBody>
      </p:sp>
      <p:sp>
        <p:nvSpPr>
          <p:cNvPr id="3" name="Content Placeholder 2">
            <a:extLst>
              <a:ext uri="{FF2B5EF4-FFF2-40B4-BE49-F238E27FC236}">
                <a16:creationId xmlns:a16="http://schemas.microsoft.com/office/drawing/2014/main" id="{95951837-103E-80A5-F1B5-F694A909721B}"/>
              </a:ext>
            </a:extLst>
          </p:cNvPr>
          <p:cNvSpPr>
            <a:spLocks noGrp="1"/>
          </p:cNvSpPr>
          <p:nvPr>
            <p:ph idx="1"/>
          </p:nvPr>
        </p:nvSpPr>
        <p:spPr/>
        <p:txBody>
          <a:bodyPr/>
          <a:lstStyle/>
          <a:p>
            <a:r>
              <a:rPr lang="en-IN" dirty="0"/>
              <a:t>• Data explosion</a:t>
            </a:r>
            <a:br>
              <a:rPr lang="en-IN" dirty="0"/>
            </a:br>
            <a:r>
              <a:rPr lang="en-IN" dirty="0"/>
              <a:t>• Swarm coordination analysis</a:t>
            </a:r>
            <a:br>
              <a:rPr lang="en-IN" dirty="0"/>
            </a:br>
            <a:r>
              <a:rPr lang="en-IN" dirty="0"/>
              <a:t>• Intent prediction</a:t>
            </a:r>
            <a:br>
              <a:rPr lang="en-IN" dirty="0"/>
            </a:br>
            <a:r>
              <a:rPr lang="en-IN" dirty="0"/>
              <a:t>• Real-time computation</a:t>
            </a:r>
          </a:p>
          <a:p>
            <a:endParaRPr lang="en-IN" dirty="0"/>
          </a:p>
          <a:p>
            <a:r>
              <a:rPr lang="en-IN" dirty="0"/>
              <a:t>Future scope</a:t>
            </a:r>
          </a:p>
          <a:p>
            <a:r>
              <a:rPr lang="en-IN" dirty="0"/>
              <a:t>Develop AI capable of predicting swarm mission rather than simply tracking drones.</a:t>
            </a:r>
          </a:p>
        </p:txBody>
      </p:sp>
    </p:spTree>
    <p:extLst>
      <p:ext uri="{BB962C8B-B14F-4D97-AF65-F5344CB8AC3E}">
        <p14:creationId xmlns:p14="http://schemas.microsoft.com/office/powerpoint/2010/main" val="2026031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3C15-C3BB-B7A1-6E3E-83E207153885}"/>
              </a:ext>
            </a:extLst>
          </p:cNvPr>
          <p:cNvSpPr>
            <a:spLocks noGrp="1"/>
          </p:cNvSpPr>
          <p:nvPr>
            <p:ph type="title"/>
          </p:nvPr>
        </p:nvSpPr>
        <p:spPr/>
        <p:txBody>
          <a:bodyPr/>
          <a:lstStyle/>
          <a:p>
            <a:r>
              <a:rPr lang="en-IN" dirty="0"/>
              <a:t>Cognitive Radar</a:t>
            </a:r>
          </a:p>
        </p:txBody>
      </p:sp>
      <p:sp>
        <p:nvSpPr>
          <p:cNvPr id="3" name="Content Placeholder 2">
            <a:extLst>
              <a:ext uri="{FF2B5EF4-FFF2-40B4-BE49-F238E27FC236}">
                <a16:creationId xmlns:a16="http://schemas.microsoft.com/office/drawing/2014/main" id="{42856BBA-D472-DFCD-4FF1-EAB6A76C50F1}"/>
              </a:ext>
            </a:extLst>
          </p:cNvPr>
          <p:cNvSpPr>
            <a:spLocks noGrp="1"/>
          </p:cNvSpPr>
          <p:nvPr>
            <p:ph idx="1"/>
          </p:nvPr>
        </p:nvSpPr>
        <p:spPr/>
        <p:txBody>
          <a:bodyPr>
            <a:normAutofit fontScale="92500" lnSpcReduction="10000"/>
          </a:bodyPr>
          <a:lstStyle/>
          <a:p>
            <a:r>
              <a:rPr lang="en-US" dirty="0"/>
              <a:t>Traditional radar operates using a fixed sensing cycle in which it transmits a predefined waveform, receives the reflected signals, processes the received echoes, and repeats the same sequence continuously. The radar parameters such as frequency, pulse width, and beam pattern remain largely unchanged during operation, making the system effective but less adaptable to changing environments or electronic attacks.</a:t>
            </a:r>
          </a:p>
          <a:p>
            <a:endParaRPr lang="en-US" dirty="0"/>
          </a:p>
          <a:p>
            <a:r>
              <a:rPr lang="en-US" dirty="0"/>
              <a:t>In contrast, cognitive radar follows a perception–action cycle inspired by human cognition. It continuously observes the environment, learns from the received radar returns, adapts its operating parameters based on the current scenario, and repeats the process. By dynamically modifying waveform characteristics, transmit power, beam steering, pulse repetition frequency, and frequency allocation, cognitive radar can optimize target detection, mitigate interference and jamming, and improve the detection of small or low-RCS drones in complex environments.</a:t>
            </a:r>
            <a:endParaRPr lang="en-IN" dirty="0"/>
          </a:p>
        </p:txBody>
      </p:sp>
    </p:spTree>
    <p:extLst>
      <p:ext uri="{BB962C8B-B14F-4D97-AF65-F5344CB8AC3E}">
        <p14:creationId xmlns:p14="http://schemas.microsoft.com/office/powerpoint/2010/main" val="406655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A9A5C-16E4-AB5F-2A95-788D1CF4F0AB}"/>
              </a:ext>
            </a:extLst>
          </p:cNvPr>
          <p:cNvSpPr>
            <a:spLocks noGrp="1"/>
          </p:cNvSpPr>
          <p:nvPr>
            <p:ph type="title"/>
          </p:nvPr>
        </p:nvSpPr>
        <p:spPr/>
        <p:txBody>
          <a:bodyPr/>
          <a:lstStyle/>
          <a:p>
            <a:r>
              <a:rPr lang="en-IN" dirty="0"/>
              <a:t>Adaptive Parameters</a:t>
            </a:r>
          </a:p>
        </p:txBody>
      </p:sp>
      <p:sp>
        <p:nvSpPr>
          <p:cNvPr id="3" name="Content Placeholder 2">
            <a:extLst>
              <a:ext uri="{FF2B5EF4-FFF2-40B4-BE49-F238E27FC236}">
                <a16:creationId xmlns:a16="http://schemas.microsoft.com/office/drawing/2014/main" id="{A7AEC19E-7E6F-DB01-E674-79D269CF70DA}"/>
              </a:ext>
            </a:extLst>
          </p:cNvPr>
          <p:cNvSpPr>
            <a:spLocks noGrp="1"/>
          </p:cNvSpPr>
          <p:nvPr>
            <p:ph idx="1"/>
          </p:nvPr>
        </p:nvSpPr>
        <p:spPr/>
        <p:txBody>
          <a:bodyPr/>
          <a:lstStyle/>
          <a:p>
            <a:r>
              <a:rPr lang="en-IN" dirty="0"/>
              <a:t>Frequency</a:t>
            </a:r>
            <a:br>
              <a:rPr lang="en-IN" dirty="0"/>
            </a:br>
            <a:r>
              <a:rPr lang="en-IN" dirty="0"/>
              <a:t>• Pulse Width</a:t>
            </a:r>
            <a:br>
              <a:rPr lang="en-IN" dirty="0"/>
            </a:br>
            <a:r>
              <a:rPr lang="en-IN" dirty="0"/>
              <a:t>• Pulse Repetition Frequency</a:t>
            </a:r>
            <a:br>
              <a:rPr lang="en-IN" dirty="0"/>
            </a:br>
            <a:r>
              <a:rPr lang="en-IN" dirty="0"/>
              <a:t>• Beam Pattern</a:t>
            </a:r>
            <a:br>
              <a:rPr lang="en-IN" dirty="0"/>
            </a:br>
            <a:r>
              <a:rPr lang="en-IN" dirty="0"/>
              <a:t>• Transmit Power</a:t>
            </a:r>
            <a:br>
              <a:rPr lang="en-IN" dirty="0"/>
            </a:br>
            <a:r>
              <a:rPr lang="en-IN" dirty="0"/>
              <a:t>• Waveform</a:t>
            </a:r>
            <a:br>
              <a:rPr lang="en-IN" dirty="0"/>
            </a:br>
            <a:endParaRPr lang="en-IN" dirty="0"/>
          </a:p>
        </p:txBody>
      </p:sp>
    </p:spTree>
    <p:extLst>
      <p:ext uri="{BB962C8B-B14F-4D97-AF65-F5344CB8AC3E}">
        <p14:creationId xmlns:p14="http://schemas.microsoft.com/office/powerpoint/2010/main" val="3794342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3303-6149-2CE9-8E4E-53FF2C940C89}"/>
              </a:ext>
            </a:extLst>
          </p:cNvPr>
          <p:cNvSpPr>
            <a:spLocks noGrp="1"/>
          </p:cNvSpPr>
          <p:nvPr>
            <p:ph type="title"/>
          </p:nvPr>
        </p:nvSpPr>
        <p:spPr/>
        <p:txBody>
          <a:bodyPr/>
          <a:lstStyle/>
          <a:p>
            <a:r>
              <a:rPr lang="en-IN" dirty="0"/>
              <a:t>Applications &amp; Current Challenges</a:t>
            </a:r>
            <a:br>
              <a:rPr lang="en-IN" dirty="0"/>
            </a:br>
            <a:endParaRPr lang="en-IN" dirty="0"/>
          </a:p>
        </p:txBody>
      </p:sp>
      <p:sp>
        <p:nvSpPr>
          <p:cNvPr id="3" name="Content Placeholder 2">
            <a:extLst>
              <a:ext uri="{FF2B5EF4-FFF2-40B4-BE49-F238E27FC236}">
                <a16:creationId xmlns:a16="http://schemas.microsoft.com/office/drawing/2014/main" id="{04F69AB9-6F10-7EDE-7FF9-8D5A2501B9B7}"/>
              </a:ext>
            </a:extLst>
          </p:cNvPr>
          <p:cNvSpPr>
            <a:spLocks noGrp="1"/>
          </p:cNvSpPr>
          <p:nvPr>
            <p:ph idx="1"/>
          </p:nvPr>
        </p:nvSpPr>
        <p:spPr/>
        <p:txBody>
          <a:bodyPr>
            <a:normAutofit/>
          </a:bodyPr>
          <a:lstStyle/>
          <a:p>
            <a:r>
              <a:rPr lang="en-IN" dirty="0"/>
              <a:t>Anti-jamming</a:t>
            </a:r>
            <a:br>
              <a:rPr lang="en-IN" dirty="0"/>
            </a:br>
            <a:r>
              <a:rPr lang="en-IN" dirty="0"/>
              <a:t>• Clutter reduction</a:t>
            </a:r>
            <a:br>
              <a:rPr lang="en-IN" dirty="0"/>
            </a:br>
            <a:r>
              <a:rPr lang="en-IN" dirty="0"/>
              <a:t>• Small drone detection</a:t>
            </a:r>
            <a:br>
              <a:rPr lang="en-IN" dirty="0"/>
            </a:br>
            <a:r>
              <a:rPr lang="en-IN" dirty="0"/>
              <a:t>• Weather adaptation</a:t>
            </a:r>
            <a:br>
              <a:rPr lang="en-IN" dirty="0"/>
            </a:br>
            <a:r>
              <a:rPr lang="en-IN" dirty="0"/>
              <a:t>• Dynamic spectrum management</a:t>
            </a:r>
          </a:p>
          <a:p>
            <a:pPr marL="0" indent="0">
              <a:buNone/>
            </a:pPr>
            <a:r>
              <a:rPr lang="en-IN" dirty="0"/>
              <a:t>		&amp; </a:t>
            </a:r>
          </a:p>
          <a:p>
            <a:r>
              <a:rPr lang="en-IN" dirty="0"/>
              <a:t>High computational cost</a:t>
            </a:r>
            <a:br>
              <a:rPr lang="en-IN" dirty="0"/>
            </a:br>
            <a:r>
              <a:rPr lang="en-IN" dirty="0"/>
              <a:t>• Online learning</a:t>
            </a:r>
            <a:br>
              <a:rPr lang="en-IN" dirty="0"/>
            </a:br>
            <a:r>
              <a:rPr lang="en-IN" dirty="0"/>
              <a:t>• Safety certification</a:t>
            </a:r>
            <a:br>
              <a:rPr lang="en-IN" dirty="0"/>
            </a:br>
            <a:r>
              <a:rPr lang="en-IN" dirty="0"/>
              <a:t>• Real-time adaptation</a:t>
            </a:r>
            <a:br>
              <a:rPr lang="en-IN" dirty="0"/>
            </a:br>
            <a:endParaRPr lang="en-IN" dirty="0"/>
          </a:p>
        </p:txBody>
      </p:sp>
    </p:spTree>
    <p:extLst>
      <p:ext uri="{BB962C8B-B14F-4D97-AF65-F5344CB8AC3E}">
        <p14:creationId xmlns:p14="http://schemas.microsoft.com/office/powerpoint/2010/main" val="1943855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58172-106D-C23F-9182-DBF8DE1A4AA1}"/>
              </a:ext>
            </a:extLst>
          </p:cNvPr>
          <p:cNvSpPr>
            <a:spLocks noGrp="1"/>
          </p:cNvSpPr>
          <p:nvPr>
            <p:ph type="title"/>
          </p:nvPr>
        </p:nvSpPr>
        <p:spPr/>
        <p:txBody>
          <a:bodyPr/>
          <a:lstStyle/>
          <a:p>
            <a:r>
              <a:rPr lang="en-IN" dirty="0"/>
              <a:t>Literature Review</a:t>
            </a:r>
            <a:br>
              <a:rPr lang="en-IN" dirty="0"/>
            </a:br>
            <a:endParaRPr lang="en-IN" dirty="0"/>
          </a:p>
        </p:txBody>
      </p:sp>
      <p:sp>
        <p:nvSpPr>
          <p:cNvPr id="3" name="Content Placeholder 2">
            <a:extLst>
              <a:ext uri="{FF2B5EF4-FFF2-40B4-BE49-F238E27FC236}">
                <a16:creationId xmlns:a16="http://schemas.microsoft.com/office/drawing/2014/main" id="{6DE88ADB-F186-433F-4569-D1438920E8BC}"/>
              </a:ext>
            </a:extLst>
          </p:cNvPr>
          <p:cNvSpPr>
            <a:spLocks noGrp="1"/>
          </p:cNvSpPr>
          <p:nvPr>
            <p:ph idx="1"/>
          </p:nvPr>
        </p:nvSpPr>
        <p:spPr/>
        <p:txBody>
          <a:bodyPr/>
          <a:lstStyle/>
          <a:p>
            <a:r>
              <a:rPr lang="en-IN" dirty="0"/>
              <a:t>Paper 1</a:t>
            </a:r>
            <a:br>
              <a:rPr lang="en-IN" dirty="0"/>
            </a:br>
            <a:r>
              <a:rPr lang="en-IN" dirty="0"/>
              <a:t>Radar Detection for Drones</a:t>
            </a:r>
            <a:br>
              <a:rPr lang="en-IN" dirty="0"/>
            </a:br>
            <a:r>
              <a:rPr lang="en-IN" dirty="0"/>
              <a:t>(University of Liège, 2022)</a:t>
            </a:r>
          </a:p>
        </p:txBody>
      </p:sp>
    </p:spTree>
    <p:extLst>
      <p:ext uri="{BB962C8B-B14F-4D97-AF65-F5344CB8AC3E}">
        <p14:creationId xmlns:p14="http://schemas.microsoft.com/office/powerpoint/2010/main" val="223910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2A28-08E3-8AA1-2257-DCD3529714C6}"/>
              </a:ext>
            </a:extLst>
          </p:cNvPr>
          <p:cNvSpPr>
            <a:spLocks noGrp="1"/>
          </p:cNvSpPr>
          <p:nvPr>
            <p:ph type="title"/>
          </p:nvPr>
        </p:nvSpPr>
        <p:spPr/>
        <p:txBody>
          <a:bodyPr/>
          <a:lstStyle/>
          <a:p>
            <a:r>
              <a:rPr lang="en-IN" dirty="0"/>
              <a:t> Contributions &amp; Research Gap</a:t>
            </a:r>
          </a:p>
        </p:txBody>
      </p:sp>
      <p:sp>
        <p:nvSpPr>
          <p:cNvPr id="3" name="Content Placeholder 2">
            <a:extLst>
              <a:ext uri="{FF2B5EF4-FFF2-40B4-BE49-F238E27FC236}">
                <a16:creationId xmlns:a16="http://schemas.microsoft.com/office/drawing/2014/main" id="{13144F3A-FD9D-3085-57F7-91EEDD1896F4}"/>
              </a:ext>
            </a:extLst>
          </p:cNvPr>
          <p:cNvSpPr>
            <a:spLocks noGrp="1"/>
          </p:cNvSpPr>
          <p:nvPr>
            <p:ph idx="1"/>
          </p:nvPr>
        </p:nvSpPr>
        <p:spPr/>
        <p:txBody>
          <a:bodyPr>
            <a:normAutofit/>
          </a:bodyPr>
          <a:lstStyle/>
          <a:p>
            <a:r>
              <a:rPr lang="en-IN" dirty="0"/>
              <a:t>FMCW Radar</a:t>
            </a:r>
            <a:br>
              <a:rPr lang="en-IN" dirty="0"/>
            </a:br>
            <a:r>
              <a:rPr lang="en-IN" dirty="0"/>
              <a:t>• Doppler FFT</a:t>
            </a:r>
            <a:br>
              <a:rPr lang="en-IN" dirty="0"/>
            </a:br>
            <a:r>
              <a:rPr lang="en-IN" dirty="0"/>
              <a:t>• Angle Estimation</a:t>
            </a:r>
            <a:br>
              <a:rPr lang="en-IN" dirty="0"/>
            </a:br>
            <a:r>
              <a:rPr lang="en-IN" dirty="0"/>
              <a:t>• Chirp Optimization</a:t>
            </a:r>
            <a:br>
              <a:rPr lang="en-IN" dirty="0"/>
            </a:br>
            <a:r>
              <a:rPr lang="en-IN" dirty="0"/>
              <a:t>• Drone Detection Experiments</a:t>
            </a:r>
            <a:br>
              <a:rPr lang="en-IN" dirty="0"/>
            </a:br>
            <a:endParaRPr lang="en-IN" dirty="0"/>
          </a:p>
          <a:p>
            <a:pPr marL="0" indent="0">
              <a:buNone/>
            </a:pPr>
            <a:r>
              <a:rPr lang="en-IN" dirty="0"/>
              <a:t>			&amp; </a:t>
            </a:r>
          </a:p>
          <a:p>
            <a:r>
              <a:rPr lang="en-IN" dirty="0"/>
              <a:t>Single radar</a:t>
            </a:r>
            <a:br>
              <a:rPr lang="en-IN" dirty="0"/>
            </a:br>
            <a:r>
              <a:rPr lang="en-IN" dirty="0"/>
              <a:t>• Single drone experiments</a:t>
            </a:r>
            <a:br>
              <a:rPr lang="en-IN" dirty="0"/>
            </a:br>
            <a:r>
              <a:rPr lang="en-IN" dirty="0"/>
              <a:t>• No AI classification</a:t>
            </a:r>
            <a:br>
              <a:rPr lang="en-IN" dirty="0"/>
            </a:br>
            <a:r>
              <a:rPr lang="en-IN" dirty="0"/>
              <a:t>• No swarm intelligence</a:t>
            </a:r>
            <a:br>
              <a:rPr lang="en-IN" dirty="0"/>
            </a:br>
            <a:endParaRPr lang="en-IN" dirty="0"/>
          </a:p>
        </p:txBody>
      </p:sp>
    </p:spTree>
    <p:extLst>
      <p:ext uri="{BB962C8B-B14F-4D97-AF65-F5344CB8AC3E}">
        <p14:creationId xmlns:p14="http://schemas.microsoft.com/office/powerpoint/2010/main" val="1993305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5636-947F-50BF-9F88-DA6E0D79B556}"/>
              </a:ext>
            </a:extLst>
          </p:cNvPr>
          <p:cNvSpPr>
            <a:spLocks noGrp="1"/>
          </p:cNvSpPr>
          <p:nvPr>
            <p:ph type="title"/>
          </p:nvPr>
        </p:nvSpPr>
        <p:spPr>
          <a:xfrm>
            <a:off x="1143000" y="2103437"/>
            <a:ext cx="10515600" cy="1325563"/>
          </a:xfrm>
        </p:spPr>
        <p:txBody>
          <a:bodyPr>
            <a:normAutofit fontScale="90000"/>
          </a:bodyPr>
          <a:lstStyle/>
          <a:p>
            <a:r>
              <a:rPr lang="en-IN" dirty="0"/>
              <a:t>Learning Algorithms for Micro-Doppler Radar Detection</a:t>
            </a:r>
            <a:br>
              <a:rPr lang="en-IN" dirty="0"/>
            </a:br>
            <a:r>
              <a:rPr lang="en-IN" dirty="0"/>
              <a:t>(Shelly Vishwakarma, PhD)</a:t>
            </a:r>
          </a:p>
        </p:txBody>
      </p:sp>
    </p:spTree>
    <p:extLst>
      <p:ext uri="{BB962C8B-B14F-4D97-AF65-F5344CB8AC3E}">
        <p14:creationId xmlns:p14="http://schemas.microsoft.com/office/powerpoint/2010/main" val="252035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42350-9DCE-BE58-7559-DBA9C34DD83A}"/>
              </a:ext>
            </a:extLst>
          </p:cNvPr>
          <p:cNvSpPr>
            <a:spLocks noGrp="1"/>
          </p:cNvSpPr>
          <p:nvPr>
            <p:ph type="title"/>
          </p:nvPr>
        </p:nvSpPr>
        <p:spPr/>
        <p:txBody>
          <a:bodyPr/>
          <a:lstStyle/>
          <a:p>
            <a:r>
              <a:rPr lang="en-IN" dirty="0"/>
              <a:t>Contributions &amp; Research Gap</a:t>
            </a:r>
          </a:p>
        </p:txBody>
      </p:sp>
      <p:sp>
        <p:nvSpPr>
          <p:cNvPr id="3" name="Content Placeholder 2">
            <a:extLst>
              <a:ext uri="{FF2B5EF4-FFF2-40B4-BE49-F238E27FC236}">
                <a16:creationId xmlns:a16="http://schemas.microsoft.com/office/drawing/2014/main" id="{79714D7D-DC33-1D80-0B36-E48A21E4257C}"/>
              </a:ext>
            </a:extLst>
          </p:cNvPr>
          <p:cNvSpPr>
            <a:spLocks noGrp="1"/>
          </p:cNvSpPr>
          <p:nvPr>
            <p:ph idx="1"/>
          </p:nvPr>
        </p:nvSpPr>
        <p:spPr/>
        <p:txBody>
          <a:bodyPr/>
          <a:lstStyle/>
          <a:p>
            <a:r>
              <a:rPr lang="en-IN" dirty="0"/>
              <a:t>• Dictionary Learning</a:t>
            </a:r>
            <a:br>
              <a:rPr lang="en-IN" dirty="0"/>
            </a:br>
            <a:r>
              <a:rPr lang="en-IN" dirty="0"/>
              <a:t>• Sparse Coding</a:t>
            </a:r>
            <a:br>
              <a:rPr lang="en-IN" dirty="0"/>
            </a:br>
            <a:r>
              <a:rPr lang="en-IN" dirty="0"/>
              <a:t>• Deep Dictionary Learning</a:t>
            </a:r>
            <a:br>
              <a:rPr lang="en-IN" dirty="0"/>
            </a:br>
            <a:r>
              <a:rPr lang="en-IN" dirty="0"/>
              <a:t>• Multiple Target Separation</a:t>
            </a:r>
            <a:br>
              <a:rPr lang="en-IN" dirty="0"/>
            </a:br>
            <a:r>
              <a:rPr lang="en-IN" dirty="0"/>
              <a:t>• Cross-frequency Classification</a:t>
            </a:r>
            <a:br>
              <a:rPr lang="en-IN" dirty="0"/>
            </a:br>
            <a:r>
              <a:rPr lang="en-IN" dirty="0"/>
              <a:t>• Through-wall Radar Imaging</a:t>
            </a:r>
            <a:br>
              <a:rPr lang="en-IN" dirty="0"/>
            </a:br>
            <a:r>
              <a:rPr lang="en-IN" dirty="0"/>
              <a:t>		&amp;</a:t>
            </a:r>
          </a:p>
          <a:p>
            <a:r>
              <a:rPr lang="en-IN" dirty="0"/>
              <a:t>• Human micro-Doppler</a:t>
            </a:r>
            <a:br>
              <a:rPr lang="en-IN" dirty="0"/>
            </a:br>
            <a:r>
              <a:rPr lang="en-IN" dirty="0"/>
              <a:t>• Indoor radar</a:t>
            </a:r>
            <a:br>
              <a:rPr lang="en-IN" dirty="0"/>
            </a:br>
            <a:r>
              <a:rPr lang="en-IN" dirty="0"/>
              <a:t>• No UAV datasets</a:t>
            </a:r>
          </a:p>
        </p:txBody>
      </p:sp>
    </p:spTree>
    <p:extLst>
      <p:ext uri="{BB962C8B-B14F-4D97-AF65-F5344CB8AC3E}">
        <p14:creationId xmlns:p14="http://schemas.microsoft.com/office/powerpoint/2010/main" val="302682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F1823-444C-24CF-A06A-3182BA0D0884}"/>
              </a:ext>
            </a:extLst>
          </p:cNvPr>
          <p:cNvSpPr>
            <a:spLocks noGrp="1"/>
          </p:cNvSpPr>
          <p:nvPr>
            <p:ph type="title"/>
          </p:nvPr>
        </p:nvSpPr>
        <p:spPr/>
        <p:txBody>
          <a:bodyPr/>
          <a:lstStyle/>
          <a:p>
            <a:r>
              <a:rPr lang="en-IN" dirty="0"/>
              <a:t>Potential Extension</a:t>
            </a:r>
          </a:p>
        </p:txBody>
      </p:sp>
      <p:sp>
        <p:nvSpPr>
          <p:cNvPr id="3" name="Content Placeholder 2">
            <a:extLst>
              <a:ext uri="{FF2B5EF4-FFF2-40B4-BE49-F238E27FC236}">
                <a16:creationId xmlns:a16="http://schemas.microsoft.com/office/drawing/2014/main" id="{DF5E770A-5568-DB9D-7376-EF882C37D3C2}"/>
              </a:ext>
            </a:extLst>
          </p:cNvPr>
          <p:cNvSpPr>
            <a:spLocks noGrp="1"/>
          </p:cNvSpPr>
          <p:nvPr>
            <p:ph idx="1"/>
          </p:nvPr>
        </p:nvSpPr>
        <p:spPr/>
        <p:txBody>
          <a:bodyPr/>
          <a:lstStyle/>
          <a:p>
            <a:r>
              <a:rPr lang="en-IN" dirty="0"/>
              <a:t>Apply the same machine learning framework to drone</a:t>
            </a:r>
            <a:br>
              <a:rPr lang="en-IN" dirty="0"/>
            </a:br>
            <a:r>
              <a:rPr lang="en-IN" dirty="0"/>
              <a:t>micro-Doppler classification.</a:t>
            </a:r>
            <a:br>
              <a:rPr lang="en-IN" dirty="0"/>
            </a:br>
            <a:endParaRPr lang="en-IN" dirty="0"/>
          </a:p>
        </p:txBody>
      </p:sp>
    </p:spTree>
    <p:extLst>
      <p:ext uri="{BB962C8B-B14F-4D97-AF65-F5344CB8AC3E}">
        <p14:creationId xmlns:p14="http://schemas.microsoft.com/office/powerpoint/2010/main" val="419968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D3B58-E033-B6FA-9990-A564CF23B089}"/>
              </a:ext>
            </a:extLst>
          </p:cNvPr>
          <p:cNvSpPr>
            <a:spLocks noGrp="1"/>
          </p:cNvSpPr>
          <p:nvPr>
            <p:ph type="title"/>
          </p:nvPr>
        </p:nvSpPr>
        <p:spPr>
          <a:xfrm>
            <a:off x="838200" y="2766218"/>
            <a:ext cx="10515600" cy="1325563"/>
          </a:xfrm>
        </p:spPr>
        <p:txBody>
          <a:bodyPr/>
          <a:lstStyle/>
          <a:p>
            <a:r>
              <a:rPr lang="en-IN" dirty="0"/>
              <a:t>Image Processing for Synthetic Aperture Radar on Lightweight Drone</a:t>
            </a:r>
          </a:p>
        </p:txBody>
      </p:sp>
    </p:spTree>
    <p:extLst>
      <p:ext uri="{BB962C8B-B14F-4D97-AF65-F5344CB8AC3E}">
        <p14:creationId xmlns:p14="http://schemas.microsoft.com/office/powerpoint/2010/main" val="2209322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C267-97A7-E706-0C84-2473FD4EE095}"/>
              </a:ext>
            </a:extLst>
          </p:cNvPr>
          <p:cNvSpPr>
            <a:spLocks noGrp="1"/>
          </p:cNvSpPr>
          <p:nvPr>
            <p:ph type="title"/>
          </p:nvPr>
        </p:nvSpPr>
        <p:spPr/>
        <p:txBody>
          <a:bodyPr/>
          <a:lstStyle/>
          <a:p>
            <a:r>
              <a:rPr lang="en-IN" dirty="0"/>
              <a:t>Contributions &amp; Research Gap</a:t>
            </a:r>
          </a:p>
        </p:txBody>
      </p:sp>
      <p:sp>
        <p:nvSpPr>
          <p:cNvPr id="3" name="Content Placeholder 2">
            <a:extLst>
              <a:ext uri="{FF2B5EF4-FFF2-40B4-BE49-F238E27FC236}">
                <a16:creationId xmlns:a16="http://schemas.microsoft.com/office/drawing/2014/main" id="{61C107AF-5571-AC87-EA3B-B6904B514200}"/>
              </a:ext>
            </a:extLst>
          </p:cNvPr>
          <p:cNvSpPr>
            <a:spLocks noGrp="1"/>
          </p:cNvSpPr>
          <p:nvPr>
            <p:ph idx="1"/>
          </p:nvPr>
        </p:nvSpPr>
        <p:spPr/>
        <p:txBody>
          <a:bodyPr/>
          <a:lstStyle/>
          <a:p>
            <a:r>
              <a:rPr lang="en-IN" dirty="0"/>
              <a:t>• FMCW Radar</a:t>
            </a:r>
            <a:br>
              <a:rPr lang="en-IN" dirty="0"/>
            </a:br>
            <a:r>
              <a:rPr lang="en-IN" dirty="0"/>
              <a:t>• </a:t>
            </a:r>
            <a:r>
              <a:rPr lang="en-IN" dirty="0" err="1"/>
              <a:t>Backprojection</a:t>
            </a:r>
            <a:r>
              <a:rPr lang="en-IN" dirty="0"/>
              <a:t> Imaging</a:t>
            </a:r>
            <a:br>
              <a:rPr lang="en-IN" dirty="0"/>
            </a:br>
            <a:r>
              <a:rPr lang="en-IN" dirty="0"/>
              <a:t>• SAR Image Formation</a:t>
            </a:r>
            <a:br>
              <a:rPr lang="en-IN" dirty="0"/>
            </a:br>
            <a:r>
              <a:rPr lang="en-IN" dirty="0"/>
              <a:t>• Motion Error Correction</a:t>
            </a:r>
            <a:br>
              <a:rPr lang="en-IN" dirty="0"/>
            </a:br>
            <a:r>
              <a:rPr lang="en-IN" dirty="0"/>
              <a:t>• Autofocus Algorithm</a:t>
            </a:r>
          </a:p>
          <a:p>
            <a:pPr marL="0" indent="0">
              <a:buNone/>
            </a:pPr>
            <a:r>
              <a:rPr lang="en-IN" dirty="0"/>
              <a:t>		&amp;</a:t>
            </a:r>
          </a:p>
          <a:p>
            <a:r>
              <a:rPr lang="en-IN" dirty="0"/>
              <a:t>• Designed for imaging</a:t>
            </a:r>
            <a:br>
              <a:rPr lang="en-IN" dirty="0"/>
            </a:br>
            <a:r>
              <a:rPr lang="en-IN" dirty="0"/>
              <a:t>• No drone detection</a:t>
            </a:r>
            <a:br>
              <a:rPr lang="en-IN" dirty="0"/>
            </a:br>
            <a:r>
              <a:rPr lang="en-IN" dirty="0"/>
              <a:t>• No AI-based target recognition</a:t>
            </a:r>
          </a:p>
        </p:txBody>
      </p:sp>
    </p:spTree>
    <p:extLst>
      <p:ext uri="{BB962C8B-B14F-4D97-AF65-F5344CB8AC3E}">
        <p14:creationId xmlns:p14="http://schemas.microsoft.com/office/powerpoint/2010/main" val="2984468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76577-8F03-3A01-C5EA-0AB54F3E7E45}"/>
              </a:ext>
            </a:extLst>
          </p:cNvPr>
          <p:cNvSpPr>
            <a:spLocks noGrp="1"/>
          </p:cNvSpPr>
          <p:nvPr>
            <p:ph type="title"/>
          </p:nvPr>
        </p:nvSpPr>
        <p:spPr/>
        <p:txBody>
          <a:bodyPr/>
          <a:lstStyle/>
          <a:p>
            <a:r>
              <a:rPr lang="en-IN" dirty="0"/>
              <a:t>Potential Extension</a:t>
            </a:r>
          </a:p>
        </p:txBody>
      </p:sp>
      <p:sp>
        <p:nvSpPr>
          <p:cNvPr id="3" name="Content Placeholder 2">
            <a:extLst>
              <a:ext uri="{FF2B5EF4-FFF2-40B4-BE49-F238E27FC236}">
                <a16:creationId xmlns:a16="http://schemas.microsoft.com/office/drawing/2014/main" id="{03841F3D-16E1-6F48-6FCB-9266ADFC2FB5}"/>
              </a:ext>
            </a:extLst>
          </p:cNvPr>
          <p:cNvSpPr>
            <a:spLocks noGrp="1"/>
          </p:cNvSpPr>
          <p:nvPr>
            <p:ph idx="1"/>
          </p:nvPr>
        </p:nvSpPr>
        <p:spPr/>
        <p:txBody>
          <a:bodyPr/>
          <a:lstStyle/>
          <a:p>
            <a:r>
              <a:rPr lang="en-IN" dirty="0"/>
              <a:t>Integrate SAR imaging concepts with drone localization and</a:t>
            </a:r>
            <a:br>
              <a:rPr lang="en-IN" dirty="0"/>
            </a:br>
            <a:r>
              <a:rPr lang="en-IN" dirty="0"/>
              <a:t>tracking.</a:t>
            </a:r>
            <a:br>
              <a:rPr lang="en-IN" dirty="0"/>
            </a:br>
            <a:endParaRPr lang="en-IN" dirty="0"/>
          </a:p>
        </p:txBody>
      </p:sp>
    </p:spTree>
    <p:extLst>
      <p:ext uri="{BB962C8B-B14F-4D97-AF65-F5344CB8AC3E}">
        <p14:creationId xmlns:p14="http://schemas.microsoft.com/office/powerpoint/2010/main" val="2396826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3E90C-E595-D227-6839-6278680DA01E}"/>
              </a:ext>
            </a:extLst>
          </p:cNvPr>
          <p:cNvSpPr>
            <a:spLocks noGrp="1"/>
          </p:cNvSpPr>
          <p:nvPr>
            <p:ph type="title"/>
          </p:nvPr>
        </p:nvSpPr>
        <p:spPr/>
        <p:txBody>
          <a:bodyPr/>
          <a:lstStyle/>
          <a:p>
            <a:r>
              <a:rPr lang="en-IN" dirty="0"/>
              <a:t>Current thoughts for research </a:t>
            </a:r>
          </a:p>
        </p:txBody>
      </p:sp>
      <p:sp>
        <p:nvSpPr>
          <p:cNvPr id="3" name="Content Placeholder 2">
            <a:extLst>
              <a:ext uri="{FF2B5EF4-FFF2-40B4-BE49-F238E27FC236}">
                <a16:creationId xmlns:a16="http://schemas.microsoft.com/office/drawing/2014/main" id="{7381D276-809B-BFDB-D7AC-8495137187F5}"/>
              </a:ext>
            </a:extLst>
          </p:cNvPr>
          <p:cNvSpPr>
            <a:spLocks noGrp="1"/>
          </p:cNvSpPr>
          <p:nvPr>
            <p:ph idx="1"/>
          </p:nvPr>
        </p:nvSpPr>
        <p:spPr/>
        <p:txBody>
          <a:bodyPr/>
          <a:lstStyle/>
          <a:p>
            <a:r>
              <a:rPr lang="en-IN" dirty="0"/>
              <a:t>Idea 1</a:t>
            </a:r>
            <a:br>
              <a:rPr lang="en-IN" dirty="0"/>
            </a:br>
            <a:br>
              <a:rPr lang="en-IN" dirty="0"/>
            </a:br>
            <a:r>
              <a:rPr lang="en-IN" dirty="0"/>
              <a:t>Adaptive Micro-Doppler Digital Twin</a:t>
            </a:r>
            <a:br>
              <a:rPr lang="en-IN" dirty="0"/>
            </a:br>
            <a:br>
              <a:rPr lang="en-IN" dirty="0"/>
            </a:br>
            <a:r>
              <a:rPr lang="en-IN" dirty="0"/>
              <a:t>• Generate synthetic radar datasets</a:t>
            </a:r>
            <a:br>
              <a:rPr lang="en-IN" dirty="0"/>
            </a:br>
            <a:r>
              <a:rPr lang="en-IN" dirty="0"/>
              <a:t>• Train AI without expensive field trials</a:t>
            </a:r>
            <a:br>
              <a:rPr lang="en-IN" dirty="0"/>
            </a:br>
            <a:r>
              <a:rPr lang="en-IN" dirty="0"/>
              <a:t>• Improve robustness across drone types</a:t>
            </a:r>
          </a:p>
        </p:txBody>
      </p:sp>
    </p:spTree>
    <p:extLst>
      <p:ext uri="{BB962C8B-B14F-4D97-AF65-F5344CB8AC3E}">
        <p14:creationId xmlns:p14="http://schemas.microsoft.com/office/powerpoint/2010/main" val="1076226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30A23-6FAA-0DFF-B794-CD275473E19F}"/>
              </a:ext>
            </a:extLst>
          </p:cNvPr>
          <p:cNvSpPr>
            <a:spLocks noGrp="1"/>
          </p:cNvSpPr>
          <p:nvPr>
            <p:ph type="title"/>
          </p:nvPr>
        </p:nvSpPr>
        <p:spPr/>
        <p:txBody>
          <a:bodyPr/>
          <a:lstStyle/>
          <a:p>
            <a:r>
              <a:rPr lang="en-IN" dirty="0"/>
              <a:t>Idea 2</a:t>
            </a:r>
            <a:br>
              <a:rPr lang="en-IN" dirty="0"/>
            </a:br>
            <a:endParaRPr lang="en-IN" dirty="0"/>
          </a:p>
        </p:txBody>
      </p:sp>
      <p:sp>
        <p:nvSpPr>
          <p:cNvPr id="3" name="Content Placeholder 2">
            <a:extLst>
              <a:ext uri="{FF2B5EF4-FFF2-40B4-BE49-F238E27FC236}">
                <a16:creationId xmlns:a16="http://schemas.microsoft.com/office/drawing/2014/main" id="{3BDD7D88-84EE-D16A-1B31-5BE6D67D9579}"/>
              </a:ext>
            </a:extLst>
          </p:cNvPr>
          <p:cNvSpPr>
            <a:spLocks noGrp="1"/>
          </p:cNvSpPr>
          <p:nvPr>
            <p:ph idx="1"/>
          </p:nvPr>
        </p:nvSpPr>
        <p:spPr/>
        <p:txBody>
          <a:bodyPr/>
          <a:lstStyle/>
          <a:p>
            <a:r>
              <a:rPr lang="en-IN" dirty="0"/>
              <a:t>Federated Cognitive Radar Network</a:t>
            </a:r>
            <a:br>
              <a:rPr lang="en-IN" dirty="0"/>
            </a:br>
            <a:br>
              <a:rPr lang="en-IN" dirty="0"/>
            </a:br>
            <a:r>
              <a:rPr lang="en-IN" dirty="0"/>
              <a:t>• Multiple radar nodes learn collaboratively</a:t>
            </a:r>
            <a:br>
              <a:rPr lang="en-IN" dirty="0"/>
            </a:br>
            <a:r>
              <a:rPr lang="en-IN" dirty="0"/>
              <a:t>• No raw radar data sharing</a:t>
            </a:r>
            <a:br>
              <a:rPr lang="en-IN" dirty="0"/>
            </a:br>
            <a:r>
              <a:rPr lang="en-IN" dirty="0"/>
              <a:t>• Improved privacy and scalability</a:t>
            </a:r>
          </a:p>
        </p:txBody>
      </p:sp>
    </p:spTree>
    <p:extLst>
      <p:ext uri="{BB962C8B-B14F-4D97-AF65-F5344CB8AC3E}">
        <p14:creationId xmlns:p14="http://schemas.microsoft.com/office/powerpoint/2010/main" val="3176135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D7DB-F461-9F08-9A6F-CC496CC30D90}"/>
              </a:ext>
            </a:extLst>
          </p:cNvPr>
          <p:cNvSpPr>
            <a:spLocks noGrp="1"/>
          </p:cNvSpPr>
          <p:nvPr>
            <p:ph type="title"/>
          </p:nvPr>
        </p:nvSpPr>
        <p:spPr/>
        <p:txBody>
          <a:bodyPr/>
          <a:lstStyle/>
          <a:p>
            <a:r>
              <a:rPr lang="en-IN" dirty="0"/>
              <a:t>Current direction of thoughts </a:t>
            </a:r>
          </a:p>
        </p:txBody>
      </p:sp>
      <p:sp>
        <p:nvSpPr>
          <p:cNvPr id="3" name="Content Placeholder 2">
            <a:extLst>
              <a:ext uri="{FF2B5EF4-FFF2-40B4-BE49-F238E27FC236}">
                <a16:creationId xmlns:a16="http://schemas.microsoft.com/office/drawing/2014/main" id="{8DE43AD5-B2D6-FE53-1816-4BA132C3854F}"/>
              </a:ext>
            </a:extLst>
          </p:cNvPr>
          <p:cNvSpPr>
            <a:spLocks noGrp="1"/>
          </p:cNvSpPr>
          <p:nvPr>
            <p:ph idx="1"/>
          </p:nvPr>
        </p:nvSpPr>
        <p:spPr/>
        <p:txBody>
          <a:bodyPr>
            <a:normAutofit/>
          </a:bodyPr>
          <a:lstStyle/>
          <a:p>
            <a:r>
              <a:rPr lang="en-IN" dirty="0"/>
              <a:t>Adaptive Cognitive Multi-Static AI Radar System</a:t>
            </a:r>
            <a:br>
              <a:rPr lang="en-IN" dirty="0"/>
            </a:br>
            <a:br>
              <a:rPr lang="en-IN" dirty="0"/>
            </a:br>
            <a:r>
              <a:rPr lang="en-IN" dirty="0"/>
              <a:t>Core Components</a:t>
            </a:r>
            <a:br>
              <a:rPr lang="en-IN" dirty="0"/>
            </a:br>
            <a:br>
              <a:rPr lang="en-IN" dirty="0"/>
            </a:br>
            <a:r>
              <a:rPr lang="en-IN" dirty="0"/>
              <a:t>• Multi-static FMCW/AESA Radar Network</a:t>
            </a:r>
            <a:br>
              <a:rPr lang="en-IN" dirty="0"/>
            </a:br>
            <a:r>
              <a:rPr lang="en-IN" dirty="0"/>
              <a:t>• AI-based Micro-Doppler Classification</a:t>
            </a:r>
            <a:br>
              <a:rPr lang="en-IN" dirty="0"/>
            </a:br>
            <a:r>
              <a:rPr lang="en-IN" dirty="0"/>
              <a:t>• Cognitive Adaptive Waveform Generation</a:t>
            </a:r>
            <a:br>
              <a:rPr lang="en-IN" dirty="0"/>
            </a:br>
            <a:r>
              <a:rPr lang="en-IN" dirty="0"/>
              <a:t>• Distributed Radar Processing</a:t>
            </a:r>
            <a:br>
              <a:rPr lang="en-IN" dirty="0"/>
            </a:br>
            <a:r>
              <a:rPr lang="en-IN" dirty="0"/>
              <a:t>• Reinforcement Learning for Adaptive Waveform Selection</a:t>
            </a:r>
            <a:br>
              <a:rPr lang="en-IN" dirty="0"/>
            </a:br>
            <a:r>
              <a:rPr lang="en-IN" dirty="0"/>
              <a:t>• Federated Learning Between Radar Nodes</a:t>
            </a:r>
            <a:br>
              <a:rPr lang="en-IN" dirty="0"/>
            </a:br>
            <a:r>
              <a:rPr lang="en-IN" dirty="0"/>
              <a:t>• EO/IR + RF Sensor Fusion</a:t>
            </a:r>
          </a:p>
        </p:txBody>
      </p:sp>
    </p:spTree>
    <p:extLst>
      <p:ext uri="{BB962C8B-B14F-4D97-AF65-F5344CB8AC3E}">
        <p14:creationId xmlns:p14="http://schemas.microsoft.com/office/powerpoint/2010/main" val="2543662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A192F-BA70-5D0D-6313-AFF0AF1E03F6}"/>
              </a:ext>
            </a:extLst>
          </p:cNvPr>
          <p:cNvSpPr>
            <a:spLocks noGrp="1"/>
          </p:cNvSpPr>
          <p:nvPr>
            <p:ph type="title"/>
          </p:nvPr>
        </p:nvSpPr>
        <p:spPr/>
        <p:txBody>
          <a:bodyPr/>
          <a:lstStyle/>
          <a:p>
            <a:r>
              <a:rPr lang="en-IN" dirty="0"/>
              <a:t>Key Advantages</a:t>
            </a:r>
          </a:p>
        </p:txBody>
      </p:sp>
      <p:sp>
        <p:nvSpPr>
          <p:cNvPr id="3" name="Content Placeholder 2">
            <a:extLst>
              <a:ext uri="{FF2B5EF4-FFF2-40B4-BE49-F238E27FC236}">
                <a16:creationId xmlns:a16="http://schemas.microsoft.com/office/drawing/2014/main" id="{7E85D9A2-EA36-56D9-8471-3E16815EF284}"/>
              </a:ext>
            </a:extLst>
          </p:cNvPr>
          <p:cNvSpPr>
            <a:spLocks noGrp="1"/>
          </p:cNvSpPr>
          <p:nvPr>
            <p:ph idx="1"/>
          </p:nvPr>
        </p:nvSpPr>
        <p:spPr/>
        <p:txBody>
          <a:bodyPr>
            <a:normAutofit/>
          </a:bodyPr>
          <a:lstStyle/>
          <a:p>
            <a:pPr marL="0" indent="0">
              <a:buNone/>
            </a:pPr>
            <a:r>
              <a:rPr lang="en-IN" dirty="0"/>
              <a:t>• Detects low Radar Cross Section (RCS) drones more effectively</a:t>
            </a:r>
            <a:br>
              <a:rPr lang="en-IN" dirty="0"/>
            </a:br>
            <a:r>
              <a:rPr lang="en-IN" dirty="0"/>
              <a:t>• Adapts automatically to weather, clutter and electronic interference</a:t>
            </a:r>
            <a:br>
              <a:rPr lang="en-IN" dirty="0"/>
            </a:br>
            <a:r>
              <a:rPr lang="en-IN" dirty="0"/>
              <a:t>• Improves detection accuracy through distributed radar nodes</a:t>
            </a:r>
            <a:br>
              <a:rPr lang="en-IN" dirty="0"/>
            </a:br>
            <a:r>
              <a:rPr lang="en-IN" dirty="0"/>
              <a:t>• Learns continuously from previous observations</a:t>
            </a:r>
            <a:br>
              <a:rPr lang="en-IN" dirty="0"/>
            </a:br>
            <a:r>
              <a:rPr lang="en-IN" dirty="0"/>
              <a:t>• Supports scalable deployment for military bases, airports, border security and critical infrastructure</a:t>
            </a:r>
            <a:br>
              <a:rPr lang="en-IN" dirty="0"/>
            </a:br>
            <a:br>
              <a:rPr lang="en-IN" dirty="0"/>
            </a:br>
            <a:r>
              <a:rPr lang="en-IN" dirty="0"/>
              <a:t>This transforms conventional surveillance radar into an intelligent autonomous radar system capable of adapting its sensing strategy, improving target recognition and enhancing situational awareness in complex operational environments.</a:t>
            </a:r>
          </a:p>
        </p:txBody>
      </p:sp>
    </p:spTree>
    <p:extLst>
      <p:ext uri="{BB962C8B-B14F-4D97-AF65-F5344CB8AC3E}">
        <p14:creationId xmlns:p14="http://schemas.microsoft.com/office/powerpoint/2010/main" val="4240012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B8888-444B-272D-D8C8-4E92757DCD2C}"/>
              </a:ext>
            </a:extLst>
          </p:cNvPr>
          <p:cNvSpPr>
            <a:spLocks noGrp="1"/>
          </p:cNvSpPr>
          <p:nvPr>
            <p:ph type="title"/>
          </p:nvPr>
        </p:nvSpPr>
        <p:spPr/>
        <p:txBody>
          <a:bodyPr/>
          <a:lstStyle/>
          <a:p>
            <a:r>
              <a:rPr lang="en-IN" dirty="0"/>
              <a:t>Expected Outcome</a:t>
            </a:r>
          </a:p>
        </p:txBody>
      </p:sp>
      <p:sp>
        <p:nvSpPr>
          <p:cNvPr id="3" name="Content Placeholder 2">
            <a:extLst>
              <a:ext uri="{FF2B5EF4-FFF2-40B4-BE49-F238E27FC236}">
                <a16:creationId xmlns:a16="http://schemas.microsoft.com/office/drawing/2014/main" id="{768CC605-3DB2-7D3D-D7A6-DFFF53DF4E7B}"/>
              </a:ext>
            </a:extLst>
          </p:cNvPr>
          <p:cNvSpPr>
            <a:spLocks noGrp="1"/>
          </p:cNvSpPr>
          <p:nvPr>
            <p:ph idx="1"/>
          </p:nvPr>
        </p:nvSpPr>
        <p:spPr/>
        <p:txBody>
          <a:bodyPr>
            <a:normAutofit fontScale="92500" lnSpcReduction="10000"/>
          </a:bodyPr>
          <a:lstStyle/>
          <a:p>
            <a:r>
              <a:rPr lang="en-IN" dirty="0"/>
              <a:t>Expected Capabilities</a:t>
            </a:r>
            <a:br>
              <a:rPr lang="en-IN" dirty="0"/>
            </a:br>
            <a:br>
              <a:rPr lang="en-IN" dirty="0"/>
            </a:br>
            <a:r>
              <a:rPr lang="en-IN" dirty="0"/>
              <a:t>Instead of simply reporting</a:t>
            </a:r>
            <a:br>
              <a:rPr lang="en-IN" dirty="0"/>
            </a:br>
            <a:br>
              <a:rPr lang="en-IN" dirty="0"/>
            </a:br>
            <a:r>
              <a:rPr lang="en-IN" dirty="0"/>
              <a:t>"Drone detected"</a:t>
            </a:r>
            <a:br>
              <a:rPr lang="en-IN" dirty="0"/>
            </a:br>
            <a:br>
              <a:rPr lang="en-IN" dirty="0"/>
            </a:br>
            <a:r>
              <a:rPr lang="en-IN" dirty="0"/>
              <a:t>the system provides</a:t>
            </a:r>
            <a:br>
              <a:rPr lang="en-IN" dirty="0"/>
            </a:br>
            <a:br>
              <a:rPr lang="en-IN" dirty="0"/>
            </a:br>
            <a:r>
              <a:rPr lang="en-IN" dirty="0"/>
              <a:t>• Drone Classification</a:t>
            </a:r>
            <a:br>
              <a:rPr lang="en-IN" dirty="0"/>
            </a:br>
            <a:r>
              <a:rPr lang="en-IN" dirty="0"/>
              <a:t>• Accurate Localization</a:t>
            </a:r>
            <a:br>
              <a:rPr lang="en-IN" dirty="0"/>
            </a:br>
            <a:r>
              <a:rPr lang="en-IN" dirty="0"/>
              <a:t>• Real-Time Target Tracking</a:t>
            </a:r>
            <a:br>
              <a:rPr lang="en-IN" dirty="0"/>
            </a:br>
            <a:r>
              <a:rPr lang="en-IN" dirty="0"/>
              <a:t>• Adaptive Waveform Optimization</a:t>
            </a:r>
            <a:br>
              <a:rPr lang="en-IN" dirty="0"/>
            </a:br>
            <a:r>
              <a:rPr lang="en-IN" dirty="0"/>
              <a:t>• Threat Assessment</a:t>
            </a:r>
            <a:br>
              <a:rPr lang="en-IN" dirty="0"/>
            </a:br>
            <a:r>
              <a:rPr lang="en-IN" dirty="0"/>
              <a:t>• Environmental Awareness</a:t>
            </a:r>
            <a:br>
              <a:rPr lang="en-IN" dirty="0"/>
            </a:br>
            <a:r>
              <a:rPr lang="en-IN" dirty="0"/>
              <a:t>• Reduced False Alarms</a:t>
            </a:r>
            <a:br>
              <a:rPr lang="en-IN" dirty="0"/>
            </a:br>
            <a:r>
              <a:rPr lang="en-IN" dirty="0"/>
              <a:t>• Recommended Countermeasure</a:t>
            </a:r>
          </a:p>
        </p:txBody>
      </p:sp>
    </p:spTree>
    <p:extLst>
      <p:ext uri="{BB962C8B-B14F-4D97-AF65-F5344CB8AC3E}">
        <p14:creationId xmlns:p14="http://schemas.microsoft.com/office/powerpoint/2010/main" val="5055244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53</TotalTime>
  <Words>1289</Words>
  <Application>Microsoft Office PowerPoint</Application>
  <PresentationFormat>Widescreen</PresentationFormat>
  <Paragraphs>85</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Trebuchet MS</vt:lpstr>
      <vt:lpstr>Wingdings 3</vt:lpstr>
      <vt:lpstr>Facet</vt:lpstr>
      <vt:lpstr>Drone Detection </vt:lpstr>
      <vt:lpstr>Drone Detection using Radar Current Technology, Research Gaps and Future Scope</vt:lpstr>
      <vt:lpstr>Current Technology </vt:lpstr>
      <vt:lpstr>Current Radar Technologies</vt:lpstr>
      <vt:lpstr>Current Loopholes</vt:lpstr>
      <vt:lpstr>PowerPoint Presentation</vt:lpstr>
      <vt:lpstr>Research Scope for Improvement</vt:lpstr>
      <vt:lpstr>Three promising research directions</vt:lpstr>
      <vt:lpstr>AI Micro-Doppler Radar</vt:lpstr>
      <vt:lpstr>Capabilities </vt:lpstr>
      <vt:lpstr>Advantages &amp; Current Challenges</vt:lpstr>
      <vt:lpstr>Future Improvements</vt:lpstr>
      <vt:lpstr>Drone Swarm Radar</vt:lpstr>
      <vt:lpstr>Technologies</vt:lpstr>
      <vt:lpstr>Current Challenges &amp; Future Scope </vt:lpstr>
      <vt:lpstr>Cognitive Radar</vt:lpstr>
      <vt:lpstr>Adaptive Parameters</vt:lpstr>
      <vt:lpstr>Applications &amp; Current Challenges </vt:lpstr>
      <vt:lpstr>Literature Review </vt:lpstr>
      <vt:lpstr> Contributions &amp; Research Gap</vt:lpstr>
      <vt:lpstr>Learning Algorithms for Micro-Doppler Radar Detection (Shelly Vishwakarma, PhD)</vt:lpstr>
      <vt:lpstr>Contributions &amp; Research Gap</vt:lpstr>
      <vt:lpstr>Potential Extension</vt:lpstr>
      <vt:lpstr>Image Processing for Synthetic Aperture Radar on Lightweight Drone</vt:lpstr>
      <vt:lpstr>Contributions &amp; Research Gap</vt:lpstr>
      <vt:lpstr>Potential Extension</vt:lpstr>
      <vt:lpstr>Current thoughts for research </vt:lpstr>
      <vt:lpstr>Idea 2 </vt:lpstr>
      <vt:lpstr>Current direction of thoughts </vt:lpstr>
      <vt:lpstr>Key Advantages</vt:lpstr>
      <vt:lpstr>Expected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M</dc:creator>
  <cp:lastModifiedBy>ROHIT M</cp:lastModifiedBy>
  <cp:revision>1</cp:revision>
  <dcterms:created xsi:type="dcterms:W3CDTF">2026-07-01T17:13:22Z</dcterms:created>
  <dcterms:modified xsi:type="dcterms:W3CDTF">2026-07-01T18:06:44Z</dcterms:modified>
</cp:coreProperties>
</file>